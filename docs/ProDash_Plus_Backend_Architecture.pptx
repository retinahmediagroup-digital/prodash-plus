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ProDash+ backend, technical architecture as of 30 September 2026. The deck walks through the tools, the database and warehouse structure, how a file moves through the pipeline, the engine rules, the WhatsApp loop, security, and what is built versus still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lives in one Supabase Postgres database, which is both the operational database and the warehouse. Data moves through medallion layers: bronze keeps raw rows exactly as received, silver holds cleaned and typed rows, gold is the trusted star schema, and scoring holds the engine output. Around the layers sit ops (the control plane and job queue), crm (what staff and the bot write) and api (the only schema the web app can read). A Python worker, started on a schedule, pushes each file through the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provides the Postgres 17 database (dev project in London; prod exists but is empty), Storage for original files, Auth for user logins, the Data API that exposes only the api schema, and the Supavisor connection pooler that Python uses. The Python package prodash holds all pipeline logic; notebooks only call it. GitHub Actions runs the worker now, and cPanel cron will run the same command once the host opens port 5432. The web app is Next.js on Vercel. The WhatsApp bot, dbt and Prefect are planned or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 stores every CSV field as text, exactly as received, so any file can be replayed. Silver is typed and cleaned: dates in Harare time, amounts, currency, normalised phone numbers and mapped product ids, with data-quality flags. Its key is client, branch, receipt number and line number, so a receipt that appears again in a later export replaces the earlier copy. Gold is the trusted star schema. Scoring is append-only per run, so tier history and any past Action Queue can be reproduced. Multi-tenancy: every table carries client_id and every foreign key includes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gold.fact_sales has one row per receipt line. Value is kept in the receipt currency, USD or ZiG, plus a USD equivalent from the daily FX table; mixed currencies are never summed raw. Walk-in sales stay in the sales totals with a null customer and are excluded from segments, queues and the holdout. dim_customer is the trader: the system-issued trader code is the business identity and the normalised phone number is the unique contact. Reference tables hold the product-name mapping, FX rates, versioned engine parameters and ProDairy's monthly control totals used for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is the control plane: load_log records every file with its SHA-256 fingerprint, row counts, date range and status, and it is also the job queue the worker reads. crm holds what staff and the bot write: consent is an append-only event log where an opt-out is permanent unless the trader opts back in through the bot; queue exposures record every trader the engine queued or suppressed; orders follow a guarded state machine. app holds user profiles and branch access, which every row-level security policy reads. api is the only schema exposed to the web app; its views run with the caller's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land_file() fingerprints the file with SHA-256 so it can never load twice, stores the original in Storage, checks the headers against the data contract (known aliases; one row per line or one row per receipt), bulk-copies every row into bronze as text and marks the load loaded or rejected, all in one transaction. Queue: the worker claims the oldest loaded file with FOR UPDATE SKIP LOCKED, so GitHub Actions and cPanel can run at the same time without taking the same file. Cleanse and publish run in one transaction per file: bad rows go to load_rejects, new traders get codes, and totals are reconciled against ProDairy's monthly control totals with a 0.5% tolerance. A mismatch holds the file instead of publishing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runs per branch after each published upload and for all branches nightly. Recency is measured from the branch's own latest receipt date. Activation writes a queue exposure for every eligible trader, including the persistent 20% holdout, which is marked suppressed; that is what makes the uplift measurement intent-to-treat. The web app only ever reads api views, and row-level security filters the rows by role and branch. Finally, bot orders and staff contacts are logged in crm; an order becomes revenue only when it is fulfilled and its invoice lines reach fact_sales with the order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thresholds are seeded as version 1 of gold.ref_engine_param. At-Risk fires after 14 days without a purchase, or when a trader goes 1.5 times past their own usual gap (with a 7-day minimum), whichever comes first. Lapsed is 3 times the gap or 90 days. The usual gap is shrunk toward the segment median for traders with little history. The holdout is 20% of eligible At-Risk and Regular traders, assigned permanently by hashing a secret salt with the trader id. Uploads whose revenue differs from ProDairy's control totals by more than 0.5% are held. Any change is a new parameter version and needs owner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file starts as started while it lands, becomes loaded when every row is in bronze, and processing while a worker holds it. It ends as published, held (reconciliation failed, not retried, visible on Data Health), failed (third failed attempt, error recorded) or rejected (the header check failed at landing). A failed attempt goes back to loaded and is retried after 10, then 20 minutes. The worker is started by a scheduler, processes what is waiting and exits: GitHub Actions now, cPanel cron later with the same command. Setting the repository variable ETL_RUNNER to cpanel switches the GitHub jobs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flow: Meta's Cloud API calls a Supabase Edge Function, which verifies the request signature and stores the raw event in bronze.wa_events; the event hash makes webhook retries harmless. The bot's state machine lives in crm.conversations: consent, registration (name, business, outlet type, branch, catchment), trader code issued, menu, reorder (confirm, quantity, collection or delivery) and handover to a person, which shows in the Branch Manager's handover inbox. Every message and its delivery status is logged in crm.messages. Outside the 24-hour service window only approved templates can be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logins: anon gets nothing; authenticated users read through row-level security and have a few column-level writes (log a contact, add a note, confirm an order, update a handover); service_role is the backend's key; etl_worker is the pipeline login, which bypasses RLS but cannot change the schema or read authentication data. App roles live in app.user_profiles: RMG admins see every client, HQ sees all branches of their own client, and a Branch Manager sees only their shops and never sees holdout membership, so it cannot bias who they call. The raw and control schemas are not exposed through the API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and tested: the full schema on the dev project, landing, the worker, queue and scheduler (the first GitHub Actions run succeeded on 29 September), and the SQL and Python test suites. Next: build cleansing, publishing and scoring in notebooks once the receipts CSV arrives, then move the code into the prodash package, where the worker picks it up automatically. Then the web app, the landing step for web uploads, the WhatsApp bot, and prod on the Pro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731520" y="1371600"/>
            <a:ext cx="10058400" cy="365760"/>
          </a:xfrm>
          <a:prstGeom prst="rect">
            <a:avLst/>
          </a:prstGeom>
          <a:noFill/>
          <a:ln/>
        </p:spPr>
        <p:txBody>
          <a:bodyPr wrap="square" lIns="0" tIns="0" rIns="0" bIns="0" rtlCol="0" anchor="t"/>
          <a:lstStyle/>
          <a:p>
            <a:pPr indent="0" marL="0">
              <a:buNone/>
            </a:pPr>
            <a:r>
              <a:rPr lang="en-US" sz="1400" b="1" spc="300" kern="0" dirty="0">
                <a:solidFill>
                  <a:srgbClr val="AEB6C2"/>
                </a:solidFill>
                <a:latin typeface="Calibri" pitchFamily="34" charset="0"/>
                <a:ea typeface="Calibri" pitchFamily="34" charset="-122"/>
                <a:cs typeface="Calibri" pitchFamily="34" charset="-120"/>
              </a:rPr>
              <a:t>RMG DIGITAL  ·  PRODASH+ FOR PRODAIRY</a:t>
            </a:r>
            <a:endParaRPr lang="en-US" sz="1400" dirty="0"/>
          </a:p>
        </p:txBody>
      </p:sp>
      <p:sp>
        <p:nvSpPr>
          <p:cNvPr id="3" name="Text 1"/>
          <p:cNvSpPr txBox="1"/>
          <p:nvPr/>
        </p:nvSpPr>
        <p:spPr>
          <a:xfrm>
            <a:off x="731520" y="1783080"/>
            <a:ext cx="1069848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ProDash+ backend</a:t>
            </a:r>
            <a:endParaRPr lang="en-US" sz="5400" dirty="0"/>
          </a:p>
        </p:txBody>
      </p:sp>
      <p:sp>
        <p:nvSpPr>
          <p:cNvPr id="4" name="Text 2"/>
          <p:cNvSpPr txBox="1"/>
          <p:nvPr/>
        </p:nvSpPr>
        <p:spPr>
          <a:xfrm>
            <a:off x="731520" y="2926080"/>
            <a:ext cx="9692640" cy="822960"/>
          </a:xfrm>
          <a:prstGeom prst="rect">
            <a:avLst/>
          </a:prstGeom>
          <a:noFill/>
          <a:ln/>
        </p:spPr>
        <p:txBody>
          <a:bodyPr wrap="square" lIns="0" tIns="0" rIns="0" bIns="0" rtlCol="0" anchor="t"/>
          <a:lstStyle/>
          <a:p>
            <a:pPr indent="0" marL="0">
              <a:buNone/>
            </a:pPr>
            <a:r>
              <a:rPr lang="en-US" sz="2200" dirty="0">
                <a:solidFill>
                  <a:srgbClr val="D5DAE1"/>
                </a:solidFill>
                <a:latin typeface="Calibri" pitchFamily="34" charset="0"/>
                <a:ea typeface="Calibri" pitchFamily="34" charset="-122"/>
                <a:cs typeface="Calibri" pitchFamily="34" charset="-120"/>
              </a:rPr>
              <a:t>How the data platform works: the database, the warehouse layers, the pipeline and the tools</a:t>
            </a:r>
            <a:endParaRPr lang="en-US" sz="2200" dirty="0"/>
          </a:p>
        </p:txBody>
      </p:sp>
      <p:sp>
        <p:nvSpPr>
          <p:cNvPr id="5" name="Shape 3"/>
          <p:cNvSpPr/>
          <p:nvPr/>
        </p:nvSpPr>
        <p:spPr>
          <a:xfrm>
            <a:off x="731520" y="4343400"/>
            <a:ext cx="1417320" cy="475488"/>
          </a:xfrm>
          <a:prstGeom prst="roundRect">
            <a:avLst>
              <a:gd name="adj" fmla="val 19231"/>
            </a:avLst>
          </a:prstGeom>
          <a:solidFill>
            <a:srgbClr val="3D5A80"/>
          </a:solidFill>
          <a:ln/>
        </p:spPr>
      </p:sp>
      <p:sp>
        <p:nvSpPr>
          <p:cNvPr id="6" name="Text 4"/>
          <p:cNvSpPr txBox="1"/>
          <p:nvPr/>
        </p:nvSpPr>
        <p:spPr>
          <a:xfrm>
            <a:off x="731520" y="4343400"/>
            <a:ext cx="141732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Sources</a:t>
            </a:r>
            <a:endParaRPr lang="en-US" sz="1500" dirty="0"/>
          </a:p>
        </p:txBody>
      </p:sp>
      <p:sp>
        <p:nvSpPr>
          <p:cNvPr id="7" name="Shape 5"/>
          <p:cNvSpPr/>
          <p:nvPr/>
        </p:nvSpPr>
        <p:spPr>
          <a:xfrm>
            <a:off x="2212848" y="4581144"/>
            <a:ext cx="256032" cy="0"/>
          </a:xfrm>
          <a:prstGeom prst="line">
            <a:avLst/>
          </a:prstGeom>
          <a:noFill/>
          <a:ln w="19050">
            <a:solidFill>
              <a:srgbClr val="AEB6C2"/>
            </a:solidFill>
            <a:prstDash val="solid"/>
            <a:tailEnd type="triangle"/>
          </a:ln>
        </p:spPr>
      </p:sp>
      <p:sp>
        <p:nvSpPr>
          <p:cNvPr id="8" name="Shape 6"/>
          <p:cNvSpPr/>
          <p:nvPr/>
        </p:nvSpPr>
        <p:spPr>
          <a:xfrm>
            <a:off x="2532888" y="4343400"/>
            <a:ext cx="1417320" cy="475488"/>
          </a:xfrm>
          <a:prstGeom prst="roundRect">
            <a:avLst>
              <a:gd name="adj" fmla="val 19231"/>
            </a:avLst>
          </a:prstGeom>
          <a:solidFill>
            <a:srgbClr val="A0612B"/>
          </a:solidFill>
          <a:ln/>
        </p:spPr>
      </p:sp>
      <p:sp>
        <p:nvSpPr>
          <p:cNvPr id="9" name="Text 7"/>
          <p:cNvSpPr txBox="1"/>
          <p:nvPr/>
        </p:nvSpPr>
        <p:spPr>
          <a:xfrm>
            <a:off x="2532888" y="4343400"/>
            <a:ext cx="141732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Bronze</a:t>
            </a:r>
            <a:endParaRPr lang="en-US" sz="1500" dirty="0"/>
          </a:p>
        </p:txBody>
      </p:sp>
      <p:sp>
        <p:nvSpPr>
          <p:cNvPr id="10" name="Shape 8"/>
          <p:cNvSpPr/>
          <p:nvPr/>
        </p:nvSpPr>
        <p:spPr>
          <a:xfrm>
            <a:off x="4014216" y="4581144"/>
            <a:ext cx="256032" cy="0"/>
          </a:xfrm>
          <a:prstGeom prst="line">
            <a:avLst/>
          </a:prstGeom>
          <a:noFill/>
          <a:ln w="19050">
            <a:solidFill>
              <a:srgbClr val="AEB6C2"/>
            </a:solidFill>
            <a:prstDash val="solid"/>
            <a:tailEnd type="triangle"/>
          </a:ln>
        </p:spPr>
      </p:sp>
      <p:sp>
        <p:nvSpPr>
          <p:cNvPr id="11" name="Shape 9"/>
          <p:cNvSpPr/>
          <p:nvPr/>
        </p:nvSpPr>
        <p:spPr>
          <a:xfrm>
            <a:off x="4334256" y="4343400"/>
            <a:ext cx="1417320" cy="475488"/>
          </a:xfrm>
          <a:prstGeom prst="roundRect">
            <a:avLst>
              <a:gd name="adj" fmla="val 19231"/>
            </a:avLst>
          </a:prstGeom>
          <a:solidFill>
            <a:srgbClr val="6E7781"/>
          </a:solidFill>
          <a:ln/>
        </p:spPr>
      </p:sp>
      <p:sp>
        <p:nvSpPr>
          <p:cNvPr id="12" name="Text 10"/>
          <p:cNvSpPr txBox="1"/>
          <p:nvPr/>
        </p:nvSpPr>
        <p:spPr>
          <a:xfrm>
            <a:off x="4334256" y="4343400"/>
            <a:ext cx="141732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Silver</a:t>
            </a:r>
            <a:endParaRPr lang="en-US" sz="1500" dirty="0"/>
          </a:p>
        </p:txBody>
      </p:sp>
      <p:sp>
        <p:nvSpPr>
          <p:cNvPr id="13" name="Shape 11"/>
          <p:cNvSpPr/>
          <p:nvPr/>
        </p:nvSpPr>
        <p:spPr>
          <a:xfrm>
            <a:off x="5815584" y="4581144"/>
            <a:ext cx="256032" cy="0"/>
          </a:xfrm>
          <a:prstGeom prst="line">
            <a:avLst/>
          </a:prstGeom>
          <a:noFill/>
          <a:ln w="19050">
            <a:solidFill>
              <a:srgbClr val="AEB6C2"/>
            </a:solidFill>
            <a:prstDash val="solid"/>
            <a:tailEnd type="triangle"/>
          </a:ln>
        </p:spPr>
      </p:sp>
      <p:sp>
        <p:nvSpPr>
          <p:cNvPr id="14" name="Shape 12"/>
          <p:cNvSpPr/>
          <p:nvPr/>
        </p:nvSpPr>
        <p:spPr>
          <a:xfrm>
            <a:off x="6135624" y="4343400"/>
            <a:ext cx="1417320" cy="475488"/>
          </a:xfrm>
          <a:prstGeom prst="roundRect">
            <a:avLst>
              <a:gd name="adj" fmla="val 19231"/>
            </a:avLst>
          </a:prstGeom>
          <a:solidFill>
            <a:srgbClr val="B8860B"/>
          </a:solidFill>
          <a:ln/>
        </p:spPr>
      </p:sp>
      <p:sp>
        <p:nvSpPr>
          <p:cNvPr id="15" name="Text 13"/>
          <p:cNvSpPr txBox="1"/>
          <p:nvPr/>
        </p:nvSpPr>
        <p:spPr>
          <a:xfrm>
            <a:off x="6135624" y="4343400"/>
            <a:ext cx="141732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Gold</a:t>
            </a:r>
            <a:endParaRPr lang="en-US" sz="1500" dirty="0"/>
          </a:p>
        </p:txBody>
      </p:sp>
      <p:sp>
        <p:nvSpPr>
          <p:cNvPr id="16" name="Shape 14"/>
          <p:cNvSpPr/>
          <p:nvPr/>
        </p:nvSpPr>
        <p:spPr>
          <a:xfrm>
            <a:off x="7616952" y="4581144"/>
            <a:ext cx="256032" cy="0"/>
          </a:xfrm>
          <a:prstGeom prst="line">
            <a:avLst/>
          </a:prstGeom>
          <a:noFill/>
          <a:ln w="19050">
            <a:solidFill>
              <a:srgbClr val="AEB6C2"/>
            </a:solidFill>
            <a:prstDash val="solid"/>
            <a:tailEnd type="triangle"/>
          </a:ln>
        </p:spPr>
      </p:sp>
      <p:sp>
        <p:nvSpPr>
          <p:cNvPr id="17" name="Shape 15"/>
          <p:cNvSpPr/>
          <p:nvPr/>
        </p:nvSpPr>
        <p:spPr>
          <a:xfrm>
            <a:off x="7936992" y="4343400"/>
            <a:ext cx="1417320" cy="475488"/>
          </a:xfrm>
          <a:prstGeom prst="roundRect">
            <a:avLst>
              <a:gd name="adj" fmla="val 19231"/>
            </a:avLst>
          </a:prstGeom>
          <a:solidFill>
            <a:srgbClr val="A23B5B"/>
          </a:solidFill>
          <a:ln/>
        </p:spPr>
      </p:sp>
      <p:sp>
        <p:nvSpPr>
          <p:cNvPr id="18" name="Text 16"/>
          <p:cNvSpPr txBox="1"/>
          <p:nvPr/>
        </p:nvSpPr>
        <p:spPr>
          <a:xfrm>
            <a:off x="7936992" y="4343400"/>
            <a:ext cx="141732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Scoring</a:t>
            </a:r>
            <a:endParaRPr lang="en-US" sz="1500" dirty="0"/>
          </a:p>
        </p:txBody>
      </p:sp>
      <p:sp>
        <p:nvSpPr>
          <p:cNvPr id="19" name="Shape 17"/>
          <p:cNvSpPr/>
          <p:nvPr/>
        </p:nvSpPr>
        <p:spPr>
          <a:xfrm>
            <a:off x="9418320" y="4581144"/>
            <a:ext cx="256032" cy="0"/>
          </a:xfrm>
          <a:prstGeom prst="line">
            <a:avLst/>
          </a:prstGeom>
          <a:noFill/>
          <a:ln w="19050">
            <a:solidFill>
              <a:srgbClr val="AEB6C2"/>
            </a:solidFill>
            <a:prstDash val="solid"/>
            <a:tailEnd type="triangle"/>
          </a:ln>
        </p:spPr>
      </p:sp>
      <p:sp>
        <p:nvSpPr>
          <p:cNvPr id="20" name="Shape 18"/>
          <p:cNvSpPr/>
          <p:nvPr/>
        </p:nvSpPr>
        <p:spPr>
          <a:xfrm>
            <a:off x="9738360" y="4343400"/>
            <a:ext cx="1417320" cy="475488"/>
          </a:xfrm>
          <a:prstGeom prst="roundRect">
            <a:avLst>
              <a:gd name="adj" fmla="val 19231"/>
            </a:avLst>
          </a:prstGeom>
          <a:solidFill>
            <a:srgbClr val="1F7A5C"/>
          </a:solidFill>
          <a:ln/>
        </p:spPr>
      </p:sp>
      <p:sp>
        <p:nvSpPr>
          <p:cNvPr id="21" name="Text 19"/>
          <p:cNvSpPr txBox="1"/>
          <p:nvPr/>
        </p:nvSpPr>
        <p:spPr>
          <a:xfrm>
            <a:off x="9738360" y="4343400"/>
            <a:ext cx="141732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Serve</a:t>
            </a:r>
            <a:endParaRPr lang="en-US" sz="1500" dirty="0"/>
          </a:p>
        </p:txBody>
      </p:sp>
      <p:sp>
        <p:nvSpPr>
          <p:cNvPr id="22" name="Text 20"/>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rgbClr val="AEB6C2"/>
                </a:solidFill>
                <a:latin typeface="Calibri" pitchFamily="34" charset="0"/>
                <a:ea typeface="Calibri" pitchFamily="34" charset="-122"/>
                <a:cs typeface="Calibri" pitchFamily="34" charset="-120"/>
              </a:rPr>
              <a:t>Technical architecture  ·  30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One Postgres database, organised as a warehouse</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A scheduled Python worker moves each file raw → clean → trusted → scored; the web app reads only the api schema</a:t>
            </a:r>
            <a:endParaRPr lang="en-US" sz="1600" dirty="0"/>
          </a:p>
        </p:txBody>
      </p:sp>
      <p:sp>
        <p:nvSpPr>
          <p:cNvPr id="4" name="Shape 2"/>
          <p:cNvSpPr/>
          <p:nvPr/>
        </p:nvSpPr>
        <p:spPr>
          <a:xfrm>
            <a:off x="548640" y="1691640"/>
            <a:ext cx="1620469" cy="676656"/>
          </a:xfrm>
          <a:prstGeom prst="roundRect">
            <a:avLst>
              <a:gd name="adj" fmla="val 10811"/>
            </a:avLst>
          </a:prstGeom>
          <a:solidFill>
            <a:srgbClr val="3D5A80"/>
          </a:solidFill>
          <a:ln/>
        </p:spPr>
      </p:sp>
      <p:sp>
        <p:nvSpPr>
          <p:cNvPr id="5" name="Text 3"/>
          <p:cNvSpPr txBox="1"/>
          <p:nvPr/>
        </p:nvSpPr>
        <p:spPr>
          <a:xfrm>
            <a:off x="548640" y="1746504"/>
            <a:ext cx="1620469"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SOURCES</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where data comes from</a:t>
            </a:r>
            <a:endParaRPr lang="en-US" sz="1500" dirty="0"/>
          </a:p>
        </p:txBody>
      </p:sp>
      <p:sp>
        <p:nvSpPr>
          <p:cNvPr id="6" name="Shape 4"/>
          <p:cNvSpPr/>
          <p:nvPr/>
        </p:nvSpPr>
        <p:spPr>
          <a:xfrm>
            <a:off x="548640" y="2487168"/>
            <a:ext cx="1620469" cy="1874520"/>
          </a:xfrm>
          <a:prstGeom prst="roundRect">
            <a:avLst>
              <a:gd name="adj" fmla="val 4514"/>
            </a:avLst>
          </a:prstGeom>
          <a:solidFill>
            <a:srgbClr val="F3F5F8"/>
          </a:solidFill>
          <a:ln/>
        </p:spPr>
      </p:sp>
      <p:sp>
        <p:nvSpPr>
          <p:cNvPr id="7" name="Text 5"/>
          <p:cNvSpPr txBox="1"/>
          <p:nvPr/>
        </p:nvSpPr>
        <p:spPr>
          <a:xfrm>
            <a:off x="658368" y="2633472"/>
            <a:ext cx="1437589" cy="1645920"/>
          </a:xfrm>
          <a:prstGeom prst="rect">
            <a:avLst/>
          </a:prstGeom>
          <a:noFill/>
          <a:ln/>
        </p:spPr>
        <p:txBody>
          <a:bodyPr wrap="square" lIns="0" tIns="0" rIns="0" bIns="0" rtlCol="0" anchor="t"/>
          <a:lstStyle/>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Branch CSV drop</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WhatsApp bot</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Counter, QR, field</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Later: branch app</a:t>
            </a:r>
            <a:endParaRPr lang="en-US" sz="1350" dirty="0"/>
          </a:p>
        </p:txBody>
      </p:sp>
      <p:sp>
        <p:nvSpPr>
          <p:cNvPr id="8" name="Shape 6"/>
          <p:cNvSpPr/>
          <p:nvPr/>
        </p:nvSpPr>
        <p:spPr>
          <a:xfrm>
            <a:off x="2205685" y="2029968"/>
            <a:ext cx="201168" cy="0"/>
          </a:xfrm>
          <a:prstGeom prst="line">
            <a:avLst/>
          </a:prstGeom>
          <a:noFill/>
          <a:ln w="22225">
            <a:solidFill>
              <a:srgbClr val="5B6573"/>
            </a:solidFill>
            <a:prstDash val="solid"/>
            <a:tailEnd type="triangle"/>
          </a:ln>
        </p:spPr>
      </p:sp>
      <p:sp>
        <p:nvSpPr>
          <p:cNvPr id="9" name="Shape 7"/>
          <p:cNvSpPr/>
          <p:nvPr/>
        </p:nvSpPr>
        <p:spPr>
          <a:xfrm>
            <a:off x="2443429" y="1691640"/>
            <a:ext cx="1620469" cy="676656"/>
          </a:xfrm>
          <a:prstGeom prst="roundRect">
            <a:avLst>
              <a:gd name="adj" fmla="val 10811"/>
            </a:avLst>
          </a:prstGeom>
          <a:solidFill>
            <a:srgbClr val="A0612B"/>
          </a:solidFill>
          <a:ln/>
        </p:spPr>
      </p:sp>
      <p:sp>
        <p:nvSpPr>
          <p:cNvPr id="10" name="Text 8"/>
          <p:cNvSpPr txBox="1"/>
          <p:nvPr/>
        </p:nvSpPr>
        <p:spPr>
          <a:xfrm>
            <a:off x="2443429" y="1746504"/>
            <a:ext cx="1620469"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BRONZE</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raw, never edited</a:t>
            </a:r>
            <a:endParaRPr lang="en-US" sz="1500" dirty="0"/>
          </a:p>
        </p:txBody>
      </p:sp>
      <p:sp>
        <p:nvSpPr>
          <p:cNvPr id="11" name="Shape 9"/>
          <p:cNvSpPr/>
          <p:nvPr/>
        </p:nvSpPr>
        <p:spPr>
          <a:xfrm>
            <a:off x="2443429" y="2487168"/>
            <a:ext cx="1620469" cy="1874520"/>
          </a:xfrm>
          <a:prstGeom prst="roundRect">
            <a:avLst>
              <a:gd name="adj" fmla="val 4514"/>
            </a:avLst>
          </a:prstGeom>
          <a:solidFill>
            <a:srgbClr val="F3F5F8"/>
          </a:solidFill>
          <a:ln/>
        </p:spPr>
      </p:sp>
      <p:sp>
        <p:nvSpPr>
          <p:cNvPr id="12" name="Text 10"/>
          <p:cNvSpPr txBox="1"/>
          <p:nvPr/>
        </p:nvSpPr>
        <p:spPr>
          <a:xfrm>
            <a:off x="2553157" y="2633472"/>
            <a:ext cx="1437589" cy="1645920"/>
          </a:xfrm>
          <a:prstGeom prst="rect">
            <a:avLst/>
          </a:prstGeom>
          <a:noFill/>
          <a:ln/>
        </p:spPr>
        <p:txBody>
          <a:bodyPr wrap="square" lIns="0" tIns="0" rIns="0" bIns="0" rtlCol="0" anchor="t"/>
          <a:lstStyle/>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receipts_raw</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wa_events</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Original file in Storage</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No file loads twice</a:t>
            </a:r>
            <a:endParaRPr lang="en-US" sz="1350" dirty="0"/>
          </a:p>
        </p:txBody>
      </p:sp>
      <p:sp>
        <p:nvSpPr>
          <p:cNvPr id="13" name="Shape 11"/>
          <p:cNvSpPr/>
          <p:nvPr/>
        </p:nvSpPr>
        <p:spPr>
          <a:xfrm>
            <a:off x="4100474" y="2029968"/>
            <a:ext cx="201168" cy="0"/>
          </a:xfrm>
          <a:prstGeom prst="line">
            <a:avLst/>
          </a:prstGeom>
          <a:noFill/>
          <a:ln w="22225">
            <a:solidFill>
              <a:srgbClr val="5B6573"/>
            </a:solidFill>
            <a:prstDash val="solid"/>
            <a:tailEnd type="triangle"/>
          </a:ln>
        </p:spPr>
      </p:sp>
      <p:sp>
        <p:nvSpPr>
          <p:cNvPr id="14" name="Shape 12"/>
          <p:cNvSpPr/>
          <p:nvPr/>
        </p:nvSpPr>
        <p:spPr>
          <a:xfrm>
            <a:off x="4338218" y="1691640"/>
            <a:ext cx="1620469" cy="676656"/>
          </a:xfrm>
          <a:prstGeom prst="roundRect">
            <a:avLst>
              <a:gd name="adj" fmla="val 10811"/>
            </a:avLst>
          </a:prstGeom>
          <a:solidFill>
            <a:srgbClr val="6E7781"/>
          </a:solidFill>
          <a:ln/>
        </p:spPr>
      </p:sp>
      <p:sp>
        <p:nvSpPr>
          <p:cNvPr id="15" name="Text 13"/>
          <p:cNvSpPr txBox="1"/>
          <p:nvPr/>
        </p:nvSpPr>
        <p:spPr>
          <a:xfrm>
            <a:off x="4338218" y="1746504"/>
            <a:ext cx="1620469"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SILVER</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cleaned and typed</a:t>
            </a:r>
            <a:endParaRPr lang="en-US" sz="1500" dirty="0"/>
          </a:p>
        </p:txBody>
      </p:sp>
      <p:sp>
        <p:nvSpPr>
          <p:cNvPr id="16" name="Shape 14"/>
          <p:cNvSpPr/>
          <p:nvPr/>
        </p:nvSpPr>
        <p:spPr>
          <a:xfrm>
            <a:off x="4338218" y="2487168"/>
            <a:ext cx="1620469" cy="1874520"/>
          </a:xfrm>
          <a:prstGeom prst="roundRect">
            <a:avLst>
              <a:gd name="adj" fmla="val 4514"/>
            </a:avLst>
          </a:prstGeom>
          <a:solidFill>
            <a:srgbClr val="F3F5F8"/>
          </a:solidFill>
          <a:ln/>
        </p:spPr>
      </p:sp>
      <p:sp>
        <p:nvSpPr>
          <p:cNvPr id="17" name="Text 15"/>
          <p:cNvSpPr txBox="1"/>
          <p:nvPr/>
        </p:nvSpPr>
        <p:spPr>
          <a:xfrm>
            <a:off x="4447946" y="2633472"/>
            <a:ext cx="1437589" cy="1645920"/>
          </a:xfrm>
          <a:prstGeom prst="rect">
            <a:avLst/>
          </a:prstGeom>
          <a:noFill/>
          <a:ln/>
        </p:spPr>
        <p:txBody>
          <a:bodyPr wrap="square" lIns="0" tIns="0" rIns="0" bIns="0" rtlCol="0" anchor="t"/>
          <a:lstStyle/>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receipt_items</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Phones → +2637…</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Products mapped</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Rejects with reasons</a:t>
            </a:r>
            <a:endParaRPr lang="en-US" sz="1350" dirty="0"/>
          </a:p>
        </p:txBody>
      </p:sp>
      <p:sp>
        <p:nvSpPr>
          <p:cNvPr id="18" name="Shape 16"/>
          <p:cNvSpPr/>
          <p:nvPr/>
        </p:nvSpPr>
        <p:spPr>
          <a:xfrm>
            <a:off x="5995264" y="2029968"/>
            <a:ext cx="201168" cy="0"/>
          </a:xfrm>
          <a:prstGeom prst="line">
            <a:avLst/>
          </a:prstGeom>
          <a:noFill/>
          <a:ln w="22225">
            <a:solidFill>
              <a:srgbClr val="5B6573"/>
            </a:solidFill>
            <a:prstDash val="solid"/>
            <a:tailEnd type="triangle"/>
          </a:ln>
        </p:spPr>
      </p:sp>
      <p:sp>
        <p:nvSpPr>
          <p:cNvPr id="19" name="Shape 17"/>
          <p:cNvSpPr/>
          <p:nvPr/>
        </p:nvSpPr>
        <p:spPr>
          <a:xfrm>
            <a:off x="6233008" y="1691640"/>
            <a:ext cx="1620469" cy="676656"/>
          </a:xfrm>
          <a:prstGeom prst="roundRect">
            <a:avLst>
              <a:gd name="adj" fmla="val 10811"/>
            </a:avLst>
          </a:prstGeom>
          <a:solidFill>
            <a:srgbClr val="B8860B"/>
          </a:solidFill>
          <a:ln/>
        </p:spPr>
      </p:sp>
      <p:sp>
        <p:nvSpPr>
          <p:cNvPr id="20" name="Text 18"/>
          <p:cNvSpPr txBox="1"/>
          <p:nvPr/>
        </p:nvSpPr>
        <p:spPr>
          <a:xfrm>
            <a:off x="6233008" y="1746504"/>
            <a:ext cx="1620469"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GOLD</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trusted star schema</a:t>
            </a:r>
            <a:endParaRPr lang="en-US" sz="1500" dirty="0"/>
          </a:p>
        </p:txBody>
      </p:sp>
      <p:sp>
        <p:nvSpPr>
          <p:cNvPr id="21" name="Shape 19"/>
          <p:cNvSpPr/>
          <p:nvPr/>
        </p:nvSpPr>
        <p:spPr>
          <a:xfrm>
            <a:off x="6233008" y="2487168"/>
            <a:ext cx="1620469" cy="1874520"/>
          </a:xfrm>
          <a:prstGeom prst="roundRect">
            <a:avLst>
              <a:gd name="adj" fmla="val 4514"/>
            </a:avLst>
          </a:prstGeom>
          <a:solidFill>
            <a:srgbClr val="F3F5F8"/>
          </a:solidFill>
          <a:ln/>
        </p:spPr>
      </p:sp>
      <p:sp>
        <p:nvSpPr>
          <p:cNvPr id="22" name="Text 20"/>
          <p:cNvSpPr txBox="1"/>
          <p:nvPr/>
        </p:nvSpPr>
        <p:spPr>
          <a:xfrm>
            <a:off x="6342736" y="2633472"/>
            <a:ext cx="1437589" cy="1645920"/>
          </a:xfrm>
          <a:prstGeom prst="rect">
            <a:avLst/>
          </a:prstGeom>
          <a:noFill/>
          <a:ln/>
        </p:spPr>
        <p:txBody>
          <a:bodyPr wrap="square" lIns="0" tIns="0" rIns="0" bIns="0" rtlCol="0" anchor="t"/>
          <a:lstStyle/>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fact_sales + dims</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Trader codes</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Reconciled to ProDairy totals</a:t>
            </a:r>
            <a:endParaRPr lang="en-US" sz="1350" dirty="0"/>
          </a:p>
        </p:txBody>
      </p:sp>
      <p:sp>
        <p:nvSpPr>
          <p:cNvPr id="23" name="Shape 21"/>
          <p:cNvSpPr/>
          <p:nvPr/>
        </p:nvSpPr>
        <p:spPr>
          <a:xfrm>
            <a:off x="7890053" y="2029968"/>
            <a:ext cx="201168" cy="0"/>
          </a:xfrm>
          <a:prstGeom prst="line">
            <a:avLst/>
          </a:prstGeom>
          <a:noFill/>
          <a:ln w="22225">
            <a:solidFill>
              <a:srgbClr val="5B6573"/>
            </a:solidFill>
            <a:prstDash val="solid"/>
            <a:tailEnd type="triangle"/>
          </a:ln>
        </p:spPr>
      </p:sp>
      <p:sp>
        <p:nvSpPr>
          <p:cNvPr id="24" name="Shape 22"/>
          <p:cNvSpPr/>
          <p:nvPr/>
        </p:nvSpPr>
        <p:spPr>
          <a:xfrm>
            <a:off x="8127797" y="1691640"/>
            <a:ext cx="1620469" cy="676656"/>
          </a:xfrm>
          <a:prstGeom prst="roundRect">
            <a:avLst>
              <a:gd name="adj" fmla="val 10811"/>
            </a:avLst>
          </a:prstGeom>
          <a:solidFill>
            <a:srgbClr val="A23B5B"/>
          </a:solidFill>
          <a:ln/>
        </p:spPr>
      </p:sp>
      <p:sp>
        <p:nvSpPr>
          <p:cNvPr id="25" name="Text 23"/>
          <p:cNvSpPr txBox="1"/>
          <p:nvPr/>
        </p:nvSpPr>
        <p:spPr>
          <a:xfrm>
            <a:off x="8127797" y="1746504"/>
            <a:ext cx="1620469"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SCORING</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engine output</a:t>
            </a:r>
            <a:endParaRPr lang="en-US" sz="1500" dirty="0"/>
          </a:p>
        </p:txBody>
      </p:sp>
      <p:sp>
        <p:nvSpPr>
          <p:cNvPr id="26" name="Shape 24"/>
          <p:cNvSpPr/>
          <p:nvPr/>
        </p:nvSpPr>
        <p:spPr>
          <a:xfrm>
            <a:off x="8127797" y="2487168"/>
            <a:ext cx="1620469" cy="1874520"/>
          </a:xfrm>
          <a:prstGeom prst="roundRect">
            <a:avLst>
              <a:gd name="adj" fmla="val 4514"/>
            </a:avLst>
          </a:prstGeom>
          <a:solidFill>
            <a:srgbClr val="F3F5F8"/>
          </a:solidFill>
          <a:ln/>
        </p:spPr>
      </p:sp>
      <p:sp>
        <p:nvSpPr>
          <p:cNvPr id="27" name="Text 25"/>
          <p:cNvSpPr txBox="1"/>
          <p:nvPr/>
        </p:nvSpPr>
        <p:spPr>
          <a:xfrm>
            <a:off x="8237525" y="2633472"/>
            <a:ext cx="1437589" cy="1645920"/>
          </a:xfrm>
          <a:prstGeom prst="rect">
            <a:avLst/>
          </a:prstGeom>
          <a:noFill/>
          <a:ln/>
        </p:spPr>
        <p:txBody>
          <a:bodyPr wrap="square" lIns="0" tIns="0" rIns="0" bIns="0" rtlCol="0" anchor="t"/>
          <a:lstStyle/>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Tiers and states</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Lapse and priority</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Triggers</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History per run</a:t>
            </a:r>
            <a:endParaRPr lang="en-US" sz="1350" dirty="0"/>
          </a:p>
        </p:txBody>
      </p:sp>
      <p:sp>
        <p:nvSpPr>
          <p:cNvPr id="28" name="Shape 26"/>
          <p:cNvSpPr/>
          <p:nvPr/>
        </p:nvSpPr>
        <p:spPr>
          <a:xfrm>
            <a:off x="9784842" y="2029968"/>
            <a:ext cx="201168" cy="0"/>
          </a:xfrm>
          <a:prstGeom prst="line">
            <a:avLst/>
          </a:prstGeom>
          <a:noFill/>
          <a:ln w="22225">
            <a:solidFill>
              <a:srgbClr val="5B6573"/>
            </a:solidFill>
            <a:prstDash val="solid"/>
            <a:tailEnd type="triangle"/>
          </a:ln>
        </p:spPr>
      </p:sp>
      <p:sp>
        <p:nvSpPr>
          <p:cNvPr id="29" name="Shape 27"/>
          <p:cNvSpPr/>
          <p:nvPr/>
        </p:nvSpPr>
        <p:spPr>
          <a:xfrm>
            <a:off x="10022586" y="1691640"/>
            <a:ext cx="1620469" cy="676656"/>
          </a:xfrm>
          <a:prstGeom prst="roundRect">
            <a:avLst>
              <a:gd name="adj" fmla="val 10811"/>
            </a:avLst>
          </a:prstGeom>
          <a:solidFill>
            <a:srgbClr val="1F7A5C"/>
          </a:solidFill>
          <a:ln/>
        </p:spPr>
      </p:sp>
      <p:sp>
        <p:nvSpPr>
          <p:cNvPr id="30" name="Text 28"/>
          <p:cNvSpPr txBox="1"/>
          <p:nvPr/>
        </p:nvSpPr>
        <p:spPr>
          <a:xfrm>
            <a:off x="10022586" y="1746504"/>
            <a:ext cx="1620469"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SERVE</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who uses it</a:t>
            </a:r>
            <a:endParaRPr lang="en-US" sz="1500" dirty="0"/>
          </a:p>
        </p:txBody>
      </p:sp>
      <p:sp>
        <p:nvSpPr>
          <p:cNvPr id="31" name="Shape 29"/>
          <p:cNvSpPr/>
          <p:nvPr/>
        </p:nvSpPr>
        <p:spPr>
          <a:xfrm>
            <a:off x="10022586" y="2487168"/>
            <a:ext cx="1620469" cy="1874520"/>
          </a:xfrm>
          <a:prstGeom prst="roundRect">
            <a:avLst>
              <a:gd name="adj" fmla="val 4514"/>
            </a:avLst>
          </a:prstGeom>
          <a:solidFill>
            <a:srgbClr val="F3F5F8"/>
          </a:solidFill>
          <a:ln/>
        </p:spPr>
      </p:sp>
      <p:sp>
        <p:nvSpPr>
          <p:cNvPr id="32" name="Text 30"/>
          <p:cNvSpPr txBox="1"/>
          <p:nvPr/>
        </p:nvSpPr>
        <p:spPr>
          <a:xfrm>
            <a:off x="10132314" y="2633472"/>
            <a:ext cx="1437589" cy="1645920"/>
          </a:xfrm>
          <a:prstGeom prst="rect">
            <a:avLst/>
          </a:prstGeom>
          <a:noFill/>
          <a:ln/>
        </p:spPr>
        <p:txBody>
          <a:bodyPr wrap="square" lIns="0" tIns="0" rIns="0" bIns="0" rtlCol="0" anchor="t"/>
          <a:lstStyle/>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api views → Next.js</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HQ dashboard</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Action Queue</a:t>
            </a:r>
            <a:endParaRPr lang="en-US" sz="1350" dirty="0"/>
          </a:p>
          <a:p>
            <a:pPr marL="139700" indent="-1397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WhatsApp prompts</a:t>
            </a:r>
            <a:endParaRPr lang="en-US" sz="1350" dirty="0"/>
          </a:p>
        </p:txBody>
      </p:sp>
      <p:sp>
        <p:nvSpPr>
          <p:cNvPr id="33" name="Shape 31"/>
          <p:cNvSpPr/>
          <p:nvPr/>
        </p:nvSpPr>
        <p:spPr>
          <a:xfrm>
            <a:off x="548640" y="4663440"/>
            <a:ext cx="3515258" cy="1463040"/>
          </a:xfrm>
          <a:prstGeom prst="roundRect">
            <a:avLst>
              <a:gd name="adj" fmla="val 5000"/>
            </a:avLst>
          </a:prstGeom>
          <a:solidFill>
            <a:srgbClr val="F3F5F8"/>
          </a:solidFill>
          <a:ln/>
        </p:spPr>
      </p:sp>
      <p:sp>
        <p:nvSpPr>
          <p:cNvPr id="34" name="Shape 32"/>
          <p:cNvSpPr/>
          <p:nvPr/>
        </p:nvSpPr>
        <p:spPr>
          <a:xfrm>
            <a:off x="713232" y="4828032"/>
            <a:ext cx="2286000" cy="329184"/>
          </a:xfrm>
          <a:prstGeom prst="roundRect">
            <a:avLst>
              <a:gd name="adj" fmla="val 27778"/>
            </a:avLst>
          </a:prstGeom>
          <a:solidFill>
            <a:srgbClr val="44505E"/>
          </a:solidFill>
          <a:ln/>
        </p:spPr>
      </p:sp>
      <p:sp>
        <p:nvSpPr>
          <p:cNvPr id="35" name="Text 33"/>
          <p:cNvSpPr txBox="1"/>
          <p:nvPr/>
        </p:nvSpPr>
        <p:spPr>
          <a:xfrm>
            <a:off x="713232" y="4828032"/>
            <a:ext cx="22860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ops · control plane</a:t>
            </a:r>
            <a:endParaRPr lang="en-US" sz="1200" dirty="0"/>
          </a:p>
        </p:txBody>
      </p:sp>
      <p:sp>
        <p:nvSpPr>
          <p:cNvPr id="36" name="Text 34"/>
          <p:cNvSpPr txBox="1"/>
          <p:nvPr/>
        </p:nvSpPr>
        <p:spPr>
          <a:xfrm>
            <a:off x="713232" y="5266944"/>
            <a:ext cx="3186074" cy="768096"/>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load_log lists every file and its status, and doubles as the job queue. load_rejects says why rows failed; etl_runs logs every worker run.</a:t>
            </a:r>
            <a:endParaRPr lang="en-US" sz="1300" dirty="0"/>
          </a:p>
        </p:txBody>
      </p:sp>
      <p:sp>
        <p:nvSpPr>
          <p:cNvPr id="37" name="Shape 35"/>
          <p:cNvSpPr/>
          <p:nvPr/>
        </p:nvSpPr>
        <p:spPr>
          <a:xfrm>
            <a:off x="4338218" y="4663440"/>
            <a:ext cx="3515258" cy="1463040"/>
          </a:xfrm>
          <a:prstGeom prst="roundRect">
            <a:avLst>
              <a:gd name="adj" fmla="val 5000"/>
            </a:avLst>
          </a:prstGeom>
          <a:solidFill>
            <a:srgbClr val="F3F5F8"/>
          </a:solidFill>
          <a:ln/>
        </p:spPr>
      </p:sp>
      <p:sp>
        <p:nvSpPr>
          <p:cNvPr id="38" name="Shape 36"/>
          <p:cNvSpPr/>
          <p:nvPr/>
        </p:nvSpPr>
        <p:spPr>
          <a:xfrm>
            <a:off x="4502810" y="4828032"/>
            <a:ext cx="2286000" cy="329184"/>
          </a:xfrm>
          <a:prstGeom prst="roundRect">
            <a:avLst>
              <a:gd name="adj" fmla="val 27778"/>
            </a:avLst>
          </a:prstGeom>
          <a:solidFill>
            <a:srgbClr val="5B4B99"/>
          </a:solidFill>
          <a:ln/>
        </p:spPr>
      </p:sp>
      <p:sp>
        <p:nvSpPr>
          <p:cNvPr id="39" name="Text 37"/>
          <p:cNvSpPr txBox="1"/>
          <p:nvPr/>
        </p:nvSpPr>
        <p:spPr>
          <a:xfrm>
            <a:off x="4502810" y="4828032"/>
            <a:ext cx="22860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crm · operational writes</a:t>
            </a:r>
            <a:endParaRPr lang="en-US" sz="1200" dirty="0"/>
          </a:p>
        </p:txBody>
      </p:sp>
      <p:sp>
        <p:nvSpPr>
          <p:cNvPr id="40" name="Text 38"/>
          <p:cNvSpPr txBox="1"/>
          <p:nvPr/>
        </p:nvSpPr>
        <p:spPr>
          <a:xfrm>
            <a:off x="4502810" y="5266944"/>
            <a:ext cx="3186074" cy="768096"/>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Consent (an opt-out sticks), queue exposures and the holdout, calls and notes, bot orders, WhatsApp conversations and messages.</a:t>
            </a:r>
            <a:endParaRPr lang="en-US" sz="1300" dirty="0"/>
          </a:p>
        </p:txBody>
      </p:sp>
      <p:sp>
        <p:nvSpPr>
          <p:cNvPr id="41" name="Shape 39"/>
          <p:cNvSpPr/>
          <p:nvPr/>
        </p:nvSpPr>
        <p:spPr>
          <a:xfrm>
            <a:off x="8127797" y="4663440"/>
            <a:ext cx="3515258" cy="1463040"/>
          </a:xfrm>
          <a:prstGeom prst="roundRect">
            <a:avLst>
              <a:gd name="adj" fmla="val 5000"/>
            </a:avLst>
          </a:prstGeom>
          <a:solidFill>
            <a:srgbClr val="F3F5F8"/>
          </a:solidFill>
          <a:ln/>
        </p:spPr>
      </p:sp>
      <p:sp>
        <p:nvSpPr>
          <p:cNvPr id="42" name="Shape 40"/>
          <p:cNvSpPr/>
          <p:nvPr/>
        </p:nvSpPr>
        <p:spPr>
          <a:xfrm>
            <a:off x="8292389" y="4828032"/>
            <a:ext cx="2286000" cy="329184"/>
          </a:xfrm>
          <a:prstGeom prst="roundRect">
            <a:avLst>
              <a:gd name="adj" fmla="val 27778"/>
            </a:avLst>
          </a:prstGeom>
          <a:solidFill>
            <a:srgbClr val="1B2430"/>
          </a:solidFill>
          <a:ln/>
        </p:spPr>
      </p:sp>
      <p:sp>
        <p:nvSpPr>
          <p:cNvPr id="43" name="Text 41"/>
          <p:cNvSpPr txBox="1"/>
          <p:nvPr/>
        </p:nvSpPr>
        <p:spPr>
          <a:xfrm>
            <a:off x="8292389" y="4828032"/>
            <a:ext cx="22860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Python worker</a:t>
            </a:r>
            <a:endParaRPr lang="en-US" sz="1200" dirty="0"/>
          </a:p>
        </p:txBody>
      </p:sp>
      <p:sp>
        <p:nvSpPr>
          <p:cNvPr id="44" name="Text 42"/>
          <p:cNvSpPr txBox="1"/>
          <p:nvPr/>
        </p:nvSpPr>
        <p:spPr>
          <a:xfrm>
            <a:off x="8292389" y="5266944"/>
            <a:ext cx="3186074" cy="768096"/>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python -m prodash.worker, started every 30 min and nightly by GitHub Actions (cPanel cron later). Claims files with SKIP LOCKED.</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The tools and where each one fits</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Supabase hosts the data; Python moves it; Next.js and WhatsApp put it in front of people</a:t>
            </a:r>
            <a:endParaRPr lang="en-US" sz="1600" dirty="0"/>
          </a:p>
        </p:txBody>
      </p:sp>
      <p:sp>
        <p:nvSpPr>
          <p:cNvPr id="4" name="Shape 2"/>
          <p:cNvSpPr/>
          <p:nvPr/>
        </p:nvSpPr>
        <p:spPr>
          <a:xfrm>
            <a:off x="548640" y="1691640"/>
            <a:ext cx="2567864" cy="1371600"/>
          </a:xfrm>
          <a:prstGeom prst="roundRect">
            <a:avLst>
              <a:gd name="adj" fmla="val 5333"/>
            </a:avLst>
          </a:prstGeom>
          <a:solidFill>
            <a:srgbClr val="F3F5F8"/>
          </a:solidFill>
          <a:ln/>
        </p:spPr>
      </p:sp>
      <p:sp>
        <p:nvSpPr>
          <p:cNvPr id="5" name="Shape 3"/>
          <p:cNvSpPr/>
          <p:nvPr/>
        </p:nvSpPr>
        <p:spPr>
          <a:xfrm>
            <a:off x="731520" y="1874520"/>
            <a:ext cx="512064" cy="512064"/>
          </a:xfrm>
          <a:prstGeom prst="ellipse">
            <a:avLst/>
          </a:prstGeom>
          <a:solidFill>
            <a:srgbClr val="1B2430"/>
          </a:solidFill>
          <a:ln/>
        </p:spPr>
      </p:sp>
      <p:pic>
        <p:nvPicPr>
          <p:cNvPr id="6" name="Image 0" descr="preencoded.png">    </p:cNvPr>
          <p:cNvPicPr>
            <a:picLocks noChangeAspect="1"/>
          </p:cNvPicPr>
          <p:nvPr/>
        </p:nvPicPr>
        <p:blipFill>
          <a:blip r:embed="rId1"/>
          <a:stretch>
            <a:fillRect/>
          </a:stretch>
        </p:blipFill>
        <p:spPr>
          <a:xfrm>
            <a:off x="854415" y="1997415"/>
            <a:ext cx="266273" cy="266273"/>
          </a:xfrm>
          <a:prstGeom prst="rect">
            <a:avLst/>
          </a:prstGeom>
        </p:spPr>
      </p:pic>
      <p:sp>
        <p:nvSpPr>
          <p:cNvPr id="7" name="Text 4"/>
          <p:cNvSpPr txBox="1"/>
          <p:nvPr/>
        </p:nvSpPr>
        <p:spPr>
          <a:xfrm>
            <a:off x="1371600" y="18470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Supabase Postgres 17</a:t>
            </a:r>
            <a:endParaRPr lang="en-US" sz="1400" dirty="0"/>
          </a:p>
        </p:txBody>
      </p:sp>
      <p:sp>
        <p:nvSpPr>
          <p:cNvPr id="8" name="Text 5"/>
          <p:cNvSpPr txBox="1"/>
          <p:nvPr/>
        </p:nvSpPr>
        <p:spPr>
          <a:xfrm>
            <a:off x="731520" y="25146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The database and the warehouse. Dev in London; prod still empty.</a:t>
            </a:r>
            <a:endParaRPr lang="en-US" sz="1200" dirty="0"/>
          </a:p>
        </p:txBody>
      </p:sp>
      <p:sp>
        <p:nvSpPr>
          <p:cNvPr id="9" name="Shape 6"/>
          <p:cNvSpPr/>
          <p:nvPr/>
        </p:nvSpPr>
        <p:spPr>
          <a:xfrm>
            <a:off x="3390824" y="1691640"/>
            <a:ext cx="2567864" cy="1371600"/>
          </a:xfrm>
          <a:prstGeom prst="roundRect">
            <a:avLst>
              <a:gd name="adj" fmla="val 5333"/>
            </a:avLst>
          </a:prstGeom>
          <a:solidFill>
            <a:srgbClr val="F3F5F8"/>
          </a:solidFill>
          <a:ln/>
        </p:spPr>
      </p:sp>
      <p:sp>
        <p:nvSpPr>
          <p:cNvPr id="10" name="Shape 7"/>
          <p:cNvSpPr/>
          <p:nvPr/>
        </p:nvSpPr>
        <p:spPr>
          <a:xfrm>
            <a:off x="3573704" y="1874520"/>
            <a:ext cx="512064" cy="512064"/>
          </a:xfrm>
          <a:prstGeom prst="ellipse">
            <a:avLst/>
          </a:prstGeom>
          <a:solidFill>
            <a:srgbClr val="1B2430"/>
          </a:solidFill>
          <a:ln/>
        </p:spPr>
      </p:sp>
      <p:pic>
        <p:nvPicPr>
          <p:cNvPr id="11" name="Image 1" descr="preencoded.png">    </p:cNvPr>
          <p:cNvPicPr>
            <a:picLocks noChangeAspect="1"/>
          </p:cNvPicPr>
          <p:nvPr/>
        </p:nvPicPr>
        <p:blipFill>
          <a:blip r:embed="rId2"/>
          <a:stretch>
            <a:fillRect/>
          </a:stretch>
        </p:blipFill>
        <p:spPr>
          <a:xfrm>
            <a:off x="3696599" y="1997415"/>
            <a:ext cx="266273" cy="266273"/>
          </a:xfrm>
          <a:prstGeom prst="rect">
            <a:avLst/>
          </a:prstGeom>
        </p:spPr>
      </p:pic>
      <p:sp>
        <p:nvSpPr>
          <p:cNvPr id="12" name="Text 8"/>
          <p:cNvSpPr txBox="1"/>
          <p:nvPr/>
        </p:nvSpPr>
        <p:spPr>
          <a:xfrm>
            <a:off x="4213784" y="18470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Supabase Storage</a:t>
            </a:r>
            <a:endParaRPr lang="en-US" sz="1400" dirty="0"/>
          </a:p>
        </p:txBody>
      </p:sp>
      <p:sp>
        <p:nvSpPr>
          <p:cNvPr id="13" name="Text 9"/>
          <p:cNvSpPr txBox="1"/>
          <p:nvPr/>
        </p:nvSpPr>
        <p:spPr>
          <a:xfrm>
            <a:off x="3573704" y="25146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Private bucket raw-uploads keeps every original CSV.</a:t>
            </a:r>
            <a:endParaRPr lang="en-US" sz="1200" dirty="0"/>
          </a:p>
        </p:txBody>
      </p:sp>
      <p:sp>
        <p:nvSpPr>
          <p:cNvPr id="14" name="Shape 10"/>
          <p:cNvSpPr/>
          <p:nvPr/>
        </p:nvSpPr>
        <p:spPr>
          <a:xfrm>
            <a:off x="6233008" y="1691640"/>
            <a:ext cx="2567864" cy="1371600"/>
          </a:xfrm>
          <a:prstGeom prst="roundRect">
            <a:avLst>
              <a:gd name="adj" fmla="val 5333"/>
            </a:avLst>
          </a:prstGeom>
          <a:solidFill>
            <a:srgbClr val="F3F5F8"/>
          </a:solidFill>
          <a:ln/>
        </p:spPr>
      </p:sp>
      <p:sp>
        <p:nvSpPr>
          <p:cNvPr id="15" name="Shape 11"/>
          <p:cNvSpPr/>
          <p:nvPr/>
        </p:nvSpPr>
        <p:spPr>
          <a:xfrm>
            <a:off x="6415888" y="1874520"/>
            <a:ext cx="512064" cy="512064"/>
          </a:xfrm>
          <a:prstGeom prst="ellipse">
            <a:avLst/>
          </a:prstGeom>
          <a:solidFill>
            <a:srgbClr val="1B2430"/>
          </a:solidFill>
          <a:ln/>
        </p:spPr>
      </p:sp>
      <p:pic>
        <p:nvPicPr>
          <p:cNvPr id="16" name="Image 2" descr="preencoded.png">    </p:cNvPr>
          <p:cNvPicPr>
            <a:picLocks noChangeAspect="1"/>
          </p:cNvPicPr>
          <p:nvPr/>
        </p:nvPicPr>
        <p:blipFill>
          <a:blip r:embed="rId3"/>
          <a:stretch>
            <a:fillRect/>
          </a:stretch>
        </p:blipFill>
        <p:spPr>
          <a:xfrm>
            <a:off x="6538783" y="1997415"/>
            <a:ext cx="266273" cy="266273"/>
          </a:xfrm>
          <a:prstGeom prst="rect">
            <a:avLst/>
          </a:prstGeom>
        </p:spPr>
      </p:pic>
      <p:sp>
        <p:nvSpPr>
          <p:cNvPr id="17" name="Text 12"/>
          <p:cNvSpPr txBox="1"/>
          <p:nvPr/>
        </p:nvSpPr>
        <p:spPr>
          <a:xfrm>
            <a:off x="7055968" y="18470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Supabase Auth</a:t>
            </a:r>
            <a:endParaRPr lang="en-US" sz="1400" dirty="0"/>
          </a:p>
        </p:txBody>
      </p:sp>
      <p:sp>
        <p:nvSpPr>
          <p:cNvPr id="18" name="Text 13"/>
          <p:cNvSpPr txBox="1"/>
          <p:nvPr/>
        </p:nvSpPr>
        <p:spPr>
          <a:xfrm>
            <a:off x="6415888" y="25146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User logins; the token tells row-level security who is asking.</a:t>
            </a:r>
            <a:endParaRPr lang="en-US" sz="1200" dirty="0"/>
          </a:p>
        </p:txBody>
      </p:sp>
      <p:sp>
        <p:nvSpPr>
          <p:cNvPr id="19" name="Shape 14"/>
          <p:cNvSpPr/>
          <p:nvPr/>
        </p:nvSpPr>
        <p:spPr>
          <a:xfrm>
            <a:off x="9075191" y="1691640"/>
            <a:ext cx="2567864" cy="1371600"/>
          </a:xfrm>
          <a:prstGeom prst="roundRect">
            <a:avLst>
              <a:gd name="adj" fmla="val 5333"/>
            </a:avLst>
          </a:prstGeom>
          <a:solidFill>
            <a:srgbClr val="F3F5F8"/>
          </a:solidFill>
          <a:ln/>
        </p:spPr>
      </p:sp>
      <p:sp>
        <p:nvSpPr>
          <p:cNvPr id="20" name="Shape 15"/>
          <p:cNvSpPr/>
          <p:nvPr/>
        </p:nvSpPr>
        <p:spPr>
          <a:xfrm>
            <a:off x="9258071" y="1874520"/>
            <a:ext cx="512064" cy="512064"/>
          </a:xfrm>
          <a:prstGeom prst="ellipse">
            <a:avLst/>
          </a:prstGeom>
          <a:solidFill>
            <a:srgbClr val="1B2430"/>
          </a:solidFill>
          <a:ln/>
        </p:spPr>
      </p:sp>
      <p:pic>
        <p:nvPicPr>
          <p:cNvPr id="21" name="Image 3" descr="preencoded.png">    </p:cNvPr>
          <p:cNvPicPr>
            <a:picLocks noChangeAspect="1"/>
          </p:cNvPicPr>
          <p:nvPr/>
        </p:nvPicPr>
        <p:blipFill>
          <a:blip r:embed="rId4"/>
          <a:stretch>
            <a:fillRect/>
          </a:stretch>
        </p:blipFill>
        <p:spPr>
          <a:xfrm>
            <a:off x="9380967" y="1997415"/>
            <a:ext cx="266273" cy="266273"/>
          </a:xfrm>
          <a:prstGeom prst="rect">
            <a:avLst/>
          </a:prstGeom>
        </p:spPr>
      </p:pic>
      <p:sp>
        <p:nvSpPr>
          <p:cNvPr id="22" name="Text 16"/>
          <p:cNvSpPr txBox="1"/>
          <p:nvPr/>
        </p:nvSpPr>
        <p:spPr>
          <a:xfrm>
            <a:off x="9898151" y="18470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Data API (PostgREST)</a:t>
            </a:r>
            <a:endParaRPr lang="en-US" sz="1400" dirty="0"/>
          </a:p>
        </p:txBody>
      </p:sp>
      <p:sp>
        <p:nvSpPr>
          <p:cNvPr id="23" name="Text 17"/>
          <p:cNvSpPr txBox="1"/>
          <p:nvPr/>
        </p:nvSpPr>
        <p:spPr>
          <a:xfrm>
            <a:off x="9258071" y="25146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REST access for the web app, limited to the api schema.</a:t>
            </a:r>
            <a:endParaRPr lang="en-US" sz="1200" dirty="0"/>
          </a:p>
        </p:txBody>
      </p:sp>
      <p:sp>
        <p:nvSpPr>
          <p:cNvPr id="24" name="Shape 18"/>
          <p:cNvSpPr/>
          <p:nvPr/>
        </p:nvSpPr>
        <p:spPr>
          <a:xfrm>
            <a:off x="548640" y="3291840"/>
            <a:ext cx="2567864" cy="1371600"/>
          </a:xfrm>
          <a:prstGeom prst="roundRect">
            <a:avLst>
              <a:gd name="adj" fmla="val 5333"/>
            </a:avLst>
          </a:prstGeom>
          <a:solidFill>
            <a:srgbClr val="F3F5F8"/>
          </a:solidFill>
          <a:ln/>
        </p:spPr>
      </p:sp>
      <p:sp>
        <p:nvSpPr>
          <p:cNvPr id="25" name="Shape 19"/>
          <p:cNvSpPr/>
          <p:nvPr/>
        </p:nvSpPr>
        <p:spPr>
          <a:xfrm>
            <a:off x="731520" y="3474720"/>
            <a:ext cx="512064" cy="512064"/>
          </a:xfrm>
          <a:prstGeom prst="ellipse">
            <a:avLst/>
          </a:prstGeom>
          <a:solidFill>
            <a:srgbClr val="1B2430"/>
          </a:solidFill>
          <a:ln/>
        </p:spPr>
      </p:sp>
      <p:pic>
        <p:nvPicPr>
          <p:cNvPr id="26" name="Image 4" descr="preencoded.png">    </p:cNvPr>
          <p:cNvPicPr>
            <a:picLocks noChangeAspect="1"/>
          </p:cNvPicPr>
          <p:nvPr/>
        </p:nvPicPr>
        <p:blipFill>
          <a:blip r:embed="rId5"/>
          <a:stretch>
            <a:fillRect/>
          </a:stretch>
        </p:blipFill>
        <p:spPr>
          <a:xfrm>
            <a:off x="854415" y="3597615"/>
            <a:ext cx="266273" cy="266273"/>
          </a:xfrm>
          <a:prstGeom prst="rect">
            <a:avLst/>
          </a:prstGeom>
        </p:spPr>
      </p:pic>
      <p:sp>
        <p:nvSpPr>
          <p:cNvPr id="27" name="Text 20"/>
          <p:cNvSpPr txBox="1"/>
          <p:nvPr/>
        </p:nvSpPr>
        <p:spPr>
          <a:xfrm>
            <a:off x="1371600" y="34472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Supavisor pooler</a:t>
            </a:r>
            <a:endParaRPr lang="en-US" sz="1400" dirty="0"/>
          </a:p>
        </p:txBody>
      </p:sp>
      <p:sp>
        <p:nvSpPr>
          <p:cNvPr id="28" name="Text 21"/>
          <p:cNvSpPr txBox="1"/>
          <p:nvPr/>
        </p:nvSpPr>
        <p:spPr>
          <a:xfrm>
            <a:off x="731520" y="41148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Python's way in: session mode, port 5432, user etl_worker.</a:t>
            </a:r>
            <a:endParaRPr lang="en-US" sz="1200" dirty="0"/>
          </a:p>
        </p:txBody>
      </p:sp>
      <p:sp>
        <p:nvSpPr>
          <p:cNvPr id="29" name="Shape 22"/>
          <p:cNvSpPr/>
          <p:nvPr/>
        </p:nvSpPr>
        <p:spPr>
          <a:xfrm>
            <a:off x="3390824" y="3291840"/>
            <a:ext cx="2567864" cy="1371600"/>
          </a:xfrm>
          <a:prstGeom prst="roundRect">
            <a:avLst>
              <a:gd name="adj" fmla="val 5333"/>
            </a:avLst>
          </a:prstGeom>
          <a:solidFill>
            <a:srgbClr val="F3F5F8"/>
          </a:solidFill>
          <a:ln/>
        </p:spPr>
      </p:sp>
      <p:sp>
        <p:nvSpPr>
          <p:cNvPr id="30" name="Shape 23"/>
          <p:cNvSpPr/>
          <p:nvPr/>
        </p:nvSpPr>
        <p:spPr>
          <a:xfrm>
            <a:off x="3573704" y="3474720"/>
            <a:ext cx="512064" cy="512064"/>
          </a:xfrm>
          <a:prstGeom prst="ellipse">
            <a:avLst/>
          </a:prstGeom>
          <a:solidFill>
            <a:srgbClr val="1B2430"/>
          </a:solidFill>
          <a:ln/>
        </p:spPr>
      </p:sp>
      <p:pic>
        <p:nvPicPr>
          <p:cNvPr id="31" name="Image 5" descr="preencoded.png">    </p:cNvPr>
          <p:cNvPicPr>
            <a:picLocks noChangeAspect="1"/>
          </p:cNvPicPr>
          <p:nvPr/>
        </p:nvPicPr>
        <p:blipFill>
          <a:blip r:embed="rId6"/>
          <a:stretch>
            <a:fillRect/>
          </a:stretch>
        </p:blipFill>
        <p:spPr>
          <a:xfrm>
            <a:off x="3696599" y="3597615"/>
            <a:ext cx="266273" cy="266273"/>
          </a:xfrm>
          <a:prstGeom prst="rect">
            <a:avLst/>
          </a:prstGeom>
        </p:spPr>
      </p:pic>
      <p:sp>
        <p:nvSpPr>
          <p:cNvPr id="32" name="Text 24"/>
          <p:cNvSpPr txBox="1"/>
          <p:nvPr/>
        </p:nvSpPr>
        <p:spPr>
          <a:xfrm>
            <a:off x="4213784" y="34472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Python package prodash</a:t>
            </a:r>
            <a:endParaRPr lang="en-US" sz="1400" dirty="0"/>
          </a:p>
        </p:txBody>
      </p:sp>
      <p:sp>
        <p:nvSpPr>
          <p:cNvPr id="33" name="Text 25"/>
          <p:cNvSpPr txBox="1"/>
          <p:nvPr/>
        </p:nvSpPr>
        <p:spPr>
          <a:xfrm>
            <a:off x="3573704" y="41148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Landing, cleansing, publishing, scoring, the worker.</a:t>
            </a:r>
            <a:endParaRPr lang="en-US" sz="1200" dirty="0"/>
          </a:p>
        </p:txBody>
      </p:sp>
      <p:sp>
        <p:nvSpPr>
          <p:cNvPr id="34" name="Shape 26"/>
          <p:cNvSpPr/>
          <p:nvPr/>
        </p:nvSpPr>
        <p:spPr>
          <a:xfrm>
            <a:off x="6233008" y="3291840"/>
            <a:ext cx="2567864" cy="1371600"/>
          </a:xfrm>
          <a:prstGeom prst="roundRect">
            <a:avLst>
              <a:gd name="adj" fmla="val 5333"/>
            </a:avLst>
          </a:prstGeom>
          <a:solidFill>
            <a:srgbClr val="F3F5F8"/>
          </a:solidFill>
          <a:ln/>
        </p:spPr>
      </p:sp>
      <p:sp>
        <p:nvSpPr>
          <p:cNvPr id="35" name="Shape 27"/>
          <p:cNvSpPr/>
          <p:nvPr/>
        </p:nvSpPr>
        <p:spPr>
          <a:xfrm>
            <a:off x="6415888" y="3474720"/>
            <a:ext cx="512064" cy="512064"/>
          </a:xfrm>
          <a:prstGeom prst="ellipse">
            <a:avLst/>
          </a:prstGeom>
          <a:solidFill>
            <a:srgbClr val="1B2430"/>
          </a:solidFill>
          <a:ln/>
        </p:spPr>
      </p:sp>
      <p:pic>
        <p:nvPicPr>
          <p:cNvPr id="36" name="Image 6" descr="preencoded.png">    </p:cNvPr>
          <p:cNvPicPr>
            <a:picLocks noChangeAspect="1"/>
          </p:cNvPicPr>
          <p:nvPr/>
        </p:nvPicPr>
        <p:blipFill>
          <a:blip r:embed="rId7"/>
          <a:stretch>
            <a:fillRect/>
          </a:stretch>
        </p:blipFill>
        <p:spPr>
          <a:xfrm>
            <a:off x="6538783" y="3597615"/>
            <a:ext cx="266273" cy="266273"/>
          </a:xfrm>
          <a:prstGeom prst="rect">
            <a:avLst/>
          </a:prstGeom>
        </p:spPr>
      </p:pic>
      <p:sp>
        <p:nvSpPr>
          <p:cNvPr id="37" name="Text 28"/>
          <p:cNvSpPr txBox="1"/>
          <p:nvPr/>
        </p:nvSpPr>
        <p:spPr>
          <a:xfrm>
            <a:off x="7055968" y="34472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GitHub Actions, then cPanel cron</a:t>
            </a:r>
            <a:endParaRPr lang="en-US" sz="1400" dirty="0"/>
          </a:p>
        </p:txBody>
      </p:sp>
      <p:sp>
        <p:nvSpPr>
          <p:cNvPr id="38" name="Text 29"/>
          <p:cNvSpPr txBox="1"/>
          <p:nvPr/>
        </p:nvSpPr>
        <p:spPr>
          <a:xfrm>
            <a:off x="6415888" y="41148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Start the worker every 30 min (07:00–21:00) and nightly.</a:t>
            </a:r>
            <a:endParaRPr lang="en-US" sz="1200" dirty="0"/>
          </a:p>
        </p:txBody>
      </p:sp>
      <p:sp>
        <p:nvSpPr>
          <p:cNvPr id="39" name="Shape 30"/>
          <p:cNvSpPr/>
          <p:nvPr/>
        </p:nvSpPr>
        <p:spPr>
          <a:xfrm>
            <a:off x="9075191" y="3291840"/>
            <a:ext cx="2567864" cy="1371600"/>
          </a:xfrm>
          <a:prstGeom prst="roundRect">
            <a:avLst>
              <a:gd name="adj" fmla="val 5333"/>
            </a:avLst>
          </a:prstGeom>
          <a:solidFill>
            <a:srgbClr val="F3F5F8"/>
          </a:solidFill>
          <a:ln/>
        </p:spPr>
      </p:sp>
      <p:sp>
        <p:nvSpPr>
          <p:cNvPr id="40" name="Shape 31"/>
          <p:cNvSpPr/>
          <p:nvPr/>
        </p:nvSpPr>
        <p:spPr>
          <a:xfrm>
            <a:off x="9258071" y="3474720"/>
            <a:ext cx="512064" cy="512064"/>
          </a:xfrm>
          <a:prstGeom prst="ellipse">
            <a:avLst/>
          </a:prstGeom>
          <a:solidFill>
            <a:srgbClr val="1B2430"/>
          </a:solidFill>
          <a:ln/>
        </p:spPr>
      </p:sp>
      <p:pic>
        <p:nvPicPr>
          <p:cNvPr id="41" name="Image 7" descr="preencoded.png">    </p:cNvPr>
          <p:cNvPicPr>
            <a:picLocks noChangeAspect="1"/>
          </p:cNvPicPr>
          <p:nvPr/>
        </p:nvPicPr>
        <p:blipFill>
          <a:blip r:embed="rId8"/>
          <a:stretch>
            <a:fillRect/>
          </a:stretch>
        </p:blipFill>
        <p:spPr>
          <a:xfrm>
            <a:off x="9380967" y="3597615"/>
            <a:ext cx="266273" cy="266273"/>
          </a:xfrm>
          <a:prstGeom prst="rect">
            <a:avLst/>
          </a:prstGeom>
        </p:spPr>
      </p:pic>
      <p:sp>
        <p:nvSpPr>
          <p:cNvPr id="42" name="Text 32"/>
          <p:cNvSpPr txBox="1"/>
          <p:nvPr/>
        </p:nvSpPr>
        <p:spPr>
          <a:xfrm>
            <a:off x="9898151" y="34472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Jupyter in VS Code</a:t>
            </a:r>
            <a:endParaRPr lang="en-US" sz="1400" dirty="0"/>
          </a:p>
        </p:txBody>
      </p:sp>
      <p:sp>
        <p:nvSpPr>
          <p:cNvPr id="43" name="Text 33"/>
          <p:cNvSpPr txBox="1"/>
          <p:nvPr/>
        </p:nvSpPr>
        <p:spPr>
          <a:xfrm>
            <a:off x="9258071" y="41148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Cleansing and scoring logic is built here first.</a:t>
            </a:r>
            <a:endParaRPr lang="en-US" sz="1200" dirty="0"/>
          </a:p>
        </p:txBody>
      </p:sp>
      <p:sp>
        <p:nvSpPr>
          <p:cNvPr id="44" name="Shape 34"/>
          <p:cNvSpPr/>
          <p:nvPr/>
        </p:nvSpPr>
        <p:spPr>
          <a:xfrm>
            <a:off x="548640" y="4892040"/>
            <a:ext cx="2567864" cy="1371600"/>
          </a:xfrm>
          <a:prstGeom prst="roundRect">
            <a:avLst>
              <a:gd name="adj" fmla="val 5333"/>
            </a:avLst>
          </a:prstGeom>
          <a:solidFill>
            <a:srgbClr val="F3F5F8"/>
          </a:solidFill>
          <a:ln/>
        </p:spPr>
      </p:sp>
      <p:sp>
        <p:nvSpPr>
          <p:cNvPr id="45" name="Shape 35"/>
          <p:cNvSpPr/>
          <p:nvPr/>
        </p:nvSpPr>
        <p:spPr>
          <a:xfrm>
            <a:off x="731520" y="5074920"/>
            <a:ext cx="512064" cy="512064"/>
          </a:xfrm>
          <a:prstGeom prst="ellipse">
            <a:avLst/>
          </a:prstGeom>
          <a:solidFill>
            <a:srgbClr val="1B2430"/>
          </a:solidFill>
          <a:ln/>
        </p:spPr>
      </p:sp>
      <p:pic>
        <p:nvPicPr>
          <p:cNvPr id="46" name="Image 8" descr="preencoded.png">    </p:cNvPr>
          <p:cNvPicPr>
            <a:picLocks noChangeAspect="1"/>
          </p:cNvPicPr>
          <p:nvPr/>
        </p:nvPicPr>
        <p:blipFill>
          <a:blip r:embed="rId9"/>
          <a:stretch>
            <a:fillRect/>
          </a:stretch>
        </p:blipFill>
        <p:spPr>
          <a:xfrm>
            <a:off x="854415" y="5197815"/>
            <a:ext cx="266273" cy="266273"/>
          </a:xfrm>
          <a:prstGeom prst="rect">
            <a:avLst/>
          </a:prstGeom>
        </p:spPr>
      </p:pic>
      <p:sp>
        <p:nvSpPr>
          <p:cNvPr id="47" name="Text 36"/>
          <p:cNvSpPr txBox="1"/>
          <p:nvPr/>
        </p:nvSpPr>
        <p:spPr>
          <a:xfrm>
            <a:off x="1371600" y="50474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SQL migrations 00–14</a:t>
            </a:r>
            <a:endParaRPr lang="en-US" sz="1400" dirty="0"/>
          </a:p>
        </p:txBody>
      </p:sp>
      <p:sp>
        <p:nvSpPr>
          <p:cNvPr id="48" name="Text 37"/>
          <p:cNvSpPr txBox="1"/>
          <p:nvPr/>
        </p:nvSpPr>
        <p:spPr>
          <a:xfrm>
            <a:off x="731520" y="57150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Idempotent scripts, tested on a throwaway Postgres.</a:t>
            </a:r>
            <a:endParaRPr lang="en-US" sz="1200" dirty="0"/>
          </a:p>
        </p:txBody>
      </p:sp>
      <p:sp>
        <p:nvSpPr>
          <p:cNvPr id="49" name="Shape 38"/>
          <p:cNvSpPr/>
          <p:nvPr/>
        </p:nvSpPr>
        <p:spPr>
          <a:xfrm>
            <a:off x="3390824" y="4892040"/>
            <a:ext cx="2567864" cy="1371600"/>
          </a:xfrm>
          <a:prstGeom prst="roundRect">
            <a:avLst>
              <a:gd name="adj" fmla="val 5333"/>
            </a:avLst>
          </a:prstGeom>
          <a:solidFill>
            <a:srgbClr val="F3F5F8"/>
          </a:solidFill>
          <a:ln/>
        </p:spPr>
      </p:sp>
      <p:sp>
        <p:nvSpPr>
          <p:cNvPr id="50" name="Shape 39"/>
          <p:cNvSpPr/>
          <p:nvPr/>
        </p:nvSpPr>
        <p:spPr>
          <a:xfrm>
            <a:off x="3573704" y="5074920"/>
            <a:ext cx="512064" cy="512064"/>
          </a:xfrm>
          <a:prstGeom prst="ellipse">
            <a:avLst/>
          </a:prstGeom>
          <a:solidFill>
            <a:srgbClr val="1B2430"/>
          </a:solidFill>
          <a:ln/>
        </p:spPr>
      </p:sp>
      <p:pic>
        <p:nvPicPr>
          <p:cNvPr id="51" name="Image 9" descr="preencoded.png">    </p:cNvPr>
          <p:cNvPicPr>
            <a:picLocks noChangeAspect="1"/>
          </p:cNvPicPr>
          <p:nvPr/>
        </p:nvPicPr>
        <p:blipFill>
          <a:blip r:embed="rId10"/>
          <a:stretch>
            <a:fillRect/>
          </a:stretch>
        </p:blipFill>
        <p:spPr>
          <a:xfrm>
            <a:off x="3696599" y="5197815"/>
            <a:ext cx="266273" cy="266273"/>
          </a:xfrm>
          <a:prstGeom prst="rect">
            <a:avLst/>
          </a:prstGeom>
        </p:spPr>
      </p:pic>
      <p:sp>
        <p:nvSpPr>
          <p:cNvPr id="52" name="Text 40"/>
          <p:cNvSpPr txBox="1"/>
          <p:nvPr/>
        </p:nvSpPr>
        <p:spPr>
          <a:xfrm>
            <a:off x="4213784" y="50474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Next.js on Vercel</a:t>
            </a:r>
            <a:endParaRPr lang="en-US" sz="1400" dirty="0"/>
          </a:p>
        </p:txBody>
      </p:sp>
      <p:sp>
        <p:nvSpPr>
          <p:cNvPr id="53" name="Text 41"/>
          <p:cNvSpPr txBox="1"/>
          <p:nvPr/>
        </p:nvSpPr>
        <p:spPr>
          <a:xfrm>
            <a:off x="3573704" y="57150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HQ dashboard and Branch Manager screens.</a:t>
            </a:r>
            <a:endParaRPr lang="en-US" sz="1200" dirty="0"/>
          </a:p>
        </p:txBody>
      </p:sp>
      <p:sp>
        <p:nvSpPr>
          <p:cNvPr id="54" name="Shape 42"/>
          <p:cNvSpPr/>
          <p:nvPr/>
        </p:nvSpPr>
        <p:spPr>
          <a:xfrm>
            <a:off x="6233008" y="4892040"/>
            <a:ext cx="2567864" cy="1371600"/>
          </a:xfrm>
          <a:prstGeom prst="roundRect">
            <a:avLst>
              <a:gd name="adj" fmla="val 5333"/>
            </a:avLst>
          </a:prstGeom>
          <a:solidFill>
            <a:srgbClr val="F3F5F8"/>
          </a:solidFill>
          <a:ln/>
        </p:spPr>
      </p:sp>
      <p:sp>
        <p:nvSpPr>
          <p:cNvPr id="55" name="Shape 43"/>
          <p:cNvSpPr/>
          <p:nvPr/>
        </p:nvSpPr>
        <p:spPr>
          <a:xfrm>
            <a:off x="6415888" y="5074920"/>
            <a:ext cx="512064" cy="512064"/>
          </a:xfrm>
          <a:prstGeom prst="ellipse">
            <a:avLst/>
          </a:prstGeom>
          <a:solidFill>
            <a:srgbClr val="6E7781"/>
          </a:solidFill>
          <a:ln/>
        </p:spPr>
      </p:sp>
      <p:pic>
        <p:nvPicPr>
          <p:cNvPr id="56" name="Image 10" descr="preencoded.png">    </p:cNvPr>
          <p:cNvPicPr>
            <a:picLocks noChangeAspect="1"/>
          </p:cNvPicPr>
          <p:nvPr/>
        </p:nvPicPr>
        <p:blipFill>
          <a:blip r:embed="rId11"/>
          <a:stretch>
            <a:fillRect/>
          </a:stretch>
        </p:blipFill>
        <p:spPr>
          <a:xfrm>
            <a:off x="6538783" y="5197815"/>
            <a:ext cx="266273" cy="266273"/>
          </a:xfrm>
          <a:prstGeom prst="rect">
            <a:avLst/>
          </a:prstGeom>
        </p:spPr>
      </p:pic>
      <p:sp>
        <p:nvSpPr>
          <p:cNvPr id="57" name="Text 44"/>
          <p:cNvSpPr txBox="1"/>
          <p:nvPr/>
        </p:nvSpPr>
        <p:spPr>
          <a:xfrm>
            <a:off x="7055968" y="50474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WhatsApp Cloud API</a:t>
            </a:r>
            <a:endParaRPr lang="en-US" sz="1400" dirty="0"/>
          </a:p>
        </p:txBody>
      </p:sp>
      <p:sp>
        <p:nvSpPr>
          <p:cNvPr id="58" name="Text 45"/>
          <p:cNvSpPr txBox="1"/>
          <p:nvPr/>
        </p:nvSpPr>
        <p:spPr>
          <a:xfrm>
            <a:off x="6415888" y="57150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Planned: bot messages via a Supabase Edge Function.</a:t>
            </a:r>
            <a:endParaRPr lang="en-US" sz="1200" dirty="0"/>
          </a:p>
        </p:txBody>
      </p:sp>
      <p:sp>
        <p:nvSpPr>
          <p:cNvPr id="59" name="Shape 46"/>
          <p:cNvSpPr/>
          <p:nvPr/>
        </p:nvSpPr>
        <p:spPr>
          <a:xfrm>
            <a:off x="9075191" y="4892040"/>
            <a:ext cx="2567864" cy="1371600"/>
          </a:xfrm>
          <a:prstGeom prst="roundRect">
            <a:avLst>
              <a:gd name="adj" fmla="val 5333"/>
            </a:avLst>
          </a:prstGeom>
          <a:solidFill>
            <a:srgbClr val="F3F5F8"/>
          </a:solidFill>
          <a:ln/>
        </p:spPr>
      </p:sp>
      <p:sp>
        <p:nvSpPr>
          <p:cNvPr id="60" name="Shape 47"/>
          <p:cNvSpPr/>
          <p:nvPr/>
        </p:nvSpPr>
        <p:spPr>
          <a:xfrm>
            <a:off x="9258071" y="5074920"/>
            <a:ext cx="512064" cy="512064"/>
          </a:xfrm>
          <a:prstGeom prst="ellipse">
            <a:avLst/>
          </a:prstGeom>
          <a:solidFill>
            <a:srgbClr val="6E7781"/>
          </a:solidFill>
          <a:ln/>
        </p:spPr>
      </p:sp>
      <p:pic>
        <p:nvPicPr>
          <p:cNvPr id="61" name="Image 11" descr="preencoded.png">    </p:cNvPr>
          <p:cNvPicPr>
            <a:picLocks noChangeAspect="1"/>
          </p:cNvPicPr>
          <p:nvPr/>
        </p:nvPicPr>
        <p:blipFill>
          <a:blip r:embed="rId12"/>
          <a:stretch>
            <a:fillRect/>
          </a:stretch>
        </p:blipFill>
        <p:spPr>
          <a:xfrm>
            <a:off x="9380967" y="5197815"/>
            <a:ext cx="266273" cy="266273"/>
          </a:xfrm>
          <a:prstGeom prst="rect">
            <a:avLst/>
          </a:prstGeom>
        </p:spPr>
      </p:pic>
      <p:sp>
        <p:nvSpPr>
          <p:cNvPr id="62" name="Text 48"/>
          <p:cNvSpPr txBox="1"/>
          <p:nvPr/>
        </p:nvSpPr>
        <p:spPr>
          <a:xfrm>
            <a:off x="9898151" y="5047488"/>
            <a:ext cx="1607744" cy="56692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dbt, Prefect</a:t>
            </a:r>
            <a:endParaRPr lang="en-US" sz="1400" dirty="0"/>
          </a:p>
        </p:txBody>
      </p:sp>
      <p:sp>
        <p:nvSpPr>
          <p:cNvPr id="63" name="Text 49"/>
          <p:cNvSpPr txBox="1"/>
          <p:nvPr/>
        </p:nvSpPr>
        <p:spPr>
          <a:xfrm>
            <a:off x="9258071" y="5715000"/>
            <a:ext cx="2202104"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Optional later: SQL models and orchestration.</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The warehouse layers</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Each layer has one job, and data only moves forward</a:t>
            </a:r>
            <a:endParaRPr lang="en-US" sz="1600" dirty="0"/>
          </a:p>
        </p:txBody>
      </p:sp>
      <p:sp>
        <p:nvSpPr>
          <p:cNvPr id="4" name="Shape 2"/>
          <p:cNvSpPr/>
          <p:nvPr/>
        </p:nvSpPr>
        <p:spPr>
          <a:xfrm>
            <a:off x="548640" y="1691640"/>
            <a:ext cx="2533574" cy="676656"/>
          </a:xfrm>
          <a:prstGeom prst="roundRect">
            <a:avLst>
              <a:gd name="adj" fmla="val 10811"/>
            </a:avLst>
          </a:prstGeom>
          <a:solidFill>
            <a:srgbClr val="A0612B"/>
          </a:solidFill>
          <a:ln/>
        </p:spPr>
      </p:sp>
      <p:sp>
        <p:nvSpPr>
          <p:cNvPr id="5" name="Text 3"/>
          <p:cNvSpPr txBox="1"/>
          <p:nvPr/>
        </p:nvSpPr>
        <p:spPr>
          <a:xfrm>
            <a:off x="548640" y="1746504"/>
            <a:ext cx="2533574"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BRONZE</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raw, never edited</a:t>
            </a:r>
            <a:endParaRPr lang="en-US" sz="1500" dirty="0"/>
          </a:p>
        </p:txBody>
      </p:sp>
      <p:sp>
        <p:nvSpPr>
          <p:cNvPr id="6" name="Shape 4"/>
          <p:cNvSpPr/>
          <p:nvPr/>
        </p:nvSpPr>
        <p:spPr>
          <a:xfrm>
            <a:off x="548640" y="2487168"/>
            <a:ext cx="2533574" cy="3063240"/>
          </a:xfrm>
          <a:prstGeom prst="roundRect">
            <a:avLst>
              <a:gd name="adj" fmla="val 2887"/>
            </a:avLst>
          </a:prstGeom>
          <a:solidFill>
            <a:srgbClr val="F3F5F8"/>
          </a:solidFill>
          <a:ln/>
        </p:spPr>
      </p:sp>
      <p:sp>
        <p:nvSpPr>
          <p:cNvPr id="7" name="Text 5"/>
          <p:cNvSpPr txBox="1"/>
          <p:nvPr/>
        </p:nvSpPr>
        <p:spPr>
          <a:xfrm>
            <a:off x="713232" y="2670048"/>
            <a:ext cx="2204390" cy="2011680"/>
          </a:xfrm>
          <a:prstGeom prst="rect">
            <a:avLst/>
          </a:prstGeom>
          <a:noFill/>
          <a:ln/>
        </p:spPr>
        <p:txBody>
          <a:bodyPr wrap="square" lIns="0" tIns="0" rIns="0" bIns="0" rtlCol="0" anchor="t"/>
          <a:lstStyle/>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receipts_raw</a:t>
            </a:r>
            <a:r>
              <a:rPr lang="en-US" sz="1400" dirty="0">
                <a:solidFill>
                  <a:srgbClr val="5B6573"/>
                </a:solidFill>
                <a:latin typeface="Calibri" pitchFamily="34" charset="0"/>
                <a:ea typeface="Calibri" pitchFamily="34" charset="-122"/>
                <a:cs typeface="Calibri" pitchFamily="34" charset="-120"/>
              </a:rPr>
              <a:t>: every CSV field as text, keyed by load and row; unknown columns kept in extra</a:t>
            </a:r>
            <a:endParaRPr lang="en-US" sz="1400" dirty="0"/>
          </a:p>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wa_events</a:t>
            </a:r>
            <a:r>
              <a:rPr lang="en-US" sz="1400" dirty="0">
                <a:solidFill>
                  <a:srgbClr val="5B6573"/>
                </a:solidFill>
                <a:latin typeface="Calibri" pitchFamily="34" charset="0"/>
                <a:ea typeface="Calibri" pitchFamily="34" charset="-122"/>
                <a:cs typeface="Calibri" pitchFamily="34" charset="-120"/>
              </a:rPr>
              <a:t>: raw WhatsApp webhooks; a unique hash makes retries harmless</a:t>
            </a:r>
            <a:endParaRPr lang="en-US" sz="1400" dirty="0"/>
          </a:p>
        </p:txBody>
      </p:sp>
      <p:sp>
        <p:nvSpPr>
          <p:cNvPr id="8" name="Text 6"/>
          <p:cNvSpPr txBox="1"/>
          <p:nvPr/>
        </p:nvSpPr>
        <p:spPr>
          <a:xfrm>
            <a:off x="713232" y="4709160"/>
            <a:ext cx="2204390" cy="713232"/>
          </a:xfrm>
          <a:prstGeom prst="rect">
            <a:avLst/>
          </a:prstGeom>
          <a:noFill/>
          <a:ln/>
        </p:spPr>
        <p:txBody>
          <a:bodyPr wrap="square" lIns="0" tIns="0" rIns="0" bIns="0" rtlCol="0" anchor="b"/>
          <a:lstStyle/>
          <a:p>
            <a:pPr indent="0" marL="0">
              <a:buNone/>
            </a:pPr>
            <a:r>
              <a:rPr lang="en-US" sz="1350" b="1" dirty="0">
                <a:solidFill>
                  <a:srgbClr val="A0612B"/>
                </a:solidFill>
                <a:latin typeface="Calibri" pitchFamily="34" charset="0"/>
                <a:ea typeface="Calibri" pitchFamily="34" charset="-122"/>
                <a:cs typeface="Calibri" pitchFamily="34" charset="-120"/>
              </a:rPr>
              <a:t>Rule: </a:t>
            </a:r>
            <a:r>
              <a:rPr lang="en-US" sz="1350" i="1" dirty="0">
                <a:solidFill>
                  <a:srgbClr val="1B2430"/>
                </a:solidFill>
                <a:latin typeface="Calibri" pitchFamily="34" charset="0"/>
                <a:ea typeface="Calibri" pitchFamily="34" charset="-122"/>
                <a:cs typeface="Calibri" pitchFamily="34" charset="-120"/>
              </a:rPr>
              <a:t>Any file can be replayed from here.</a:t>
            </a:r>
            <a:endParaRPr lang="en-US" sz="1350" dirty="0"/>
          </a:p>
        </p:txBody>
      </p:sp>
      <p:sp>
        <p:nvSpPr>
          <p:cNvPr id="9" name="Shape 7"/>
          <p:cNvSpPr/>
          <p:nvPr/>
        </p:nvSpPr>
        <p:spPr>
          <a:xfrm>
            <a:off x="3127934" y="2029968"/>
            <a:ext cx="228600" cy="0"/>
          </a:xfrm>
          <a:prstGeom prst="line">
            <a:avLst/>
          </a:prstGeom>
          <a:noFill/>
          <a:ln w="22225">
            <a:solidFill>
              <a:srgbClr val="5B6573"/>
            </a:solidFill>
            <a:prstDash val="solid"/>
            <a:tailEnd type="triangle"/>
          </a:ln>
        </p:spPr>
      </p:sp>
      <p:sp>
        <p:nvSpPr>
          <p:cNvPr id="10" name="Shape 8"/>
          <p:cNvSpPr/>
          <p:nvPr/>
        </p:nvSpPr>
        <p:spPr>
          <a:xfrm>
            <a:off x="3402254" y="1691640"/>
            <a:ext cx="2533574" cy="676656"/>
          </a:xfrm>
          <a:prstGeom prst="roundRect">
            <a:avLst>
              <a:gd name="adj" fmla="val 10811"/>
            </a:avLst>
          </a:prstGeom>
          <a:solidFill>
            <a:srgbClr val="6E7781"/>
          </a:solidFill>
          <a:ln/>
        </p:spPr>
      </p:sp>
      <p:sp>
        <p:nvSpPr>
          <p:cNvPr id="11" name="Text 9"/>
          <p:cNvSpPr txBox="1"/>
          <p:nvPr/>
        </p:nvSpPr>
        <p:spPr>
          <a:xfrm>
            <a:off x="3402254" y="1746504"/>
            <a:ext cx="2533574"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SILVER</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cleaned and typed</a:t>
            </a:r>
            <a:endParaRPr lang="en-US" sz="1500" dirty="0"/>
          </a:p>
        </p:txBody>
      </p:sp>
      <p:sp>
        <p:nvSpPr>
          <p:cNvPr id="12" name="Shape 10"/>
          <p:cNvSpPr/>
          <p:nvPr/>
        </p:nvSpPr>
        <p:spPr>
          <a:xfrm>
            <a:off x="3402254" y="2487168"/>
            <a:ext cx="2533574" cy="3063240"/>
          </a:xfrm>
          <a:prstGeom prst="roundRect">
            <a:avLst>
              <a:gd name="adj" fmla="val 2887"/>
            </a:avLst>
          </a:prstGeom>
          <a:solidFill>
            <a:srgbClr val="F3F5F8"/>
          </a:solidFill>
          <a:ln/>
        </p:spPr>
      </p:sp>
      <p:sp>
        <p:nvSpPr>
          <p:cNvPr id="13" name="Text 11"/>
          <p:cNvSpPr txBox="1"/>
          <p:nvPr/>
        </p:nvSpPr>
        <p:spPr>
          <a:xfrm>
            <a:off x="3566846" y="2670048"/>
            <a:ext cx="2204390" cy="2011680"/>
          </a:xfrm>
          <a:prstGeom prst="rect">
            <a:avLst/>
          </a:prstGeom>
          <a:noFill/>
          <a:ln/>
        </p:spPr>
        <p:txBody>
          <a:bodyPr wrap="square" lIns="0" tIns="0" rIns="0" bIns="0" rtlCol="0" anchor="t"/>
          <a:lstStyle/>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receipt_items</a:t>
            </a:r>
            <a:r>
              <a:rPr lang="en-US" sz="1400" dirty="0">
                <a:solidFill>
                  <a:srgbClr val="5B6573"/>
                </a:solidFill>
                <a:latin typeface="Calibri" pitchFamily="34" charset="0"/>
                <a:ea typeface="Calibri" pitchFamily="34" charset="-122"/>
                <a:cs typeface="Calibri" pitchFamily="34" charset="-120"/>
              </a:rPr>
              <a:t>: one row per receipt line, with dates, amounts, currency, phone and product id</a:t>
            </a:r>
            <a:endParaRPr lang="en-US" sz="1400" dirty="0"/>
          </a:p>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receipts</a:t>
            </a:r>
            <a:r>
              <a:rPr lang="en-US" sz="1400" dirty="0">
                <a:solidFill>
                  <a:srgbClr val="5B6573"/>
                </a:solidFill>
                <a:latin typeface="Calibri" pitchFamily="34" charset="0"/>
                <a:ea typeface="Calibri" pitchFamily="34" charset="-122"/>
                <a:cs typeface="Calibri" pitchFamily="34" charset="-120"/>
              </a:rPr>
              <a:t> (view): one row per receipt; flags totals that don't add up</a:t>
            </a:r>
            <a:endParaRPr lang="en-US" sz="1400" dirty="0"/>
          </a:p>
        </p:txBody>
      </p:sp>
      <p:sp>
        <p:nvSpPr>
          <p:cNvPr id="14" name="Text 12"/>
          <p:cNvSpPr txBox="1"/>
          <p:nvPr/>
        </p:nvSpPr>
        <p:spPr>
          <a:xfrm>
            <a:off x="3566846" y="4709160"/>
            <a:ext cx="2204390" cy="713232"/>
          </a:xfrm>
          <a:prstGeom prst="rect">
            <a:avLst/>
          </a:prstGeom>
          <a:noFill/>
          <a:ln/>
        </p:spPr>
        <p:txBody>
          <a:bodyPr wrap="square" lIns="0" tIns="0" rIns="0" bIns="0" rtlCol="0" anchor="b"/>
          <a:lstStyle/>
          <a:p>
            <a:pPr indent="0" marL="0">
              <a:buNone/>
            </a:pPr>
            <a:r>
              <a:rPr lang="en-US" sz="1350" b="1" dirty="0">
                <a:solidFill>
                  <a:srgbClr val="6E7781"/>
                </a:solidFill>
                <a:latin typeface="Calibri" pitchFamily="34" charset="0"/>
                <a:ea typeface="Calibri" pitchFamily="34" charset="-122"/>
                <a:cs typeface="Calibri" pitchFamily="34" charset="-120"/>
              </a:rPr>
              <a:t>Rule: </a:t>
            </a:r>
            <a:r>
              <a:rPr lang="en-US" sz="1350" i="1" dirty="0">
                <a:solidFill>
                  <a:srgbClr val="1B2430"/>
                </a:solidFill>
                <a:latin typeface="Calibri" pitchFamily="34" charset="0"/>
                <a:ea typeface="Calibri" pitchFamily="34" charset="-122"/>
                <a:cs typeface="Calibri" pitchFamily="34" charset="-120"/>
              </a:rPr>
              <a:t>A receipt in a later file replaces the earlier copy.</a:t>
            </a:r>
            <a:endParaRPr lang="en-US" sz="1350" dirty="0"/>
          </a:p>
        </p:txBody>
      </p:sp>
      <p:sp>
        <p:nvSpPr>
          <p:cNvPr id="15" name="Shape 13"/>
          <p:cNvSpPr/>
          <p:nvPr/>
        </p:nvSpPr>
        <p:spPr>
          <a:xfrm>
            <a:off x="5981548" y="2029968"/>
            <a:ext cx="228600" cy="0"/>
          </a:xfrm>
          <a:prstGeom prst="line">
            <a:avLst/>
          </a:prstGeom>
          <a:noFill/>
          <a:ln w="22225">
            <a:solidFill>
              <a:srgbClr val="5B6573"/>
            </a:solidFill>
            <a:prstDash val="solid"/>
            <a:tailEnd type="triangle"/>
          </a:ln>
        </p:spPr>
      </p:sp>
      <p:sp>
        <p:nvSpPr>
          <p:cNvPr id="16" name="Shape 14"/>
          <p:cNvSpPr/>
          <p:nvPr/>
        </p:nvSpPr>
        <p:spPr>
          <a:xfrm>
            <a:off x="6255868" y="1691640"/>
            <a:ext cx="2533574" cy="676656"/>
          </a:xfrm>
          <a:prstGeom prst="roundRect">
            <a:avLst>
              <a:gd name="adj" fmla="val 10811"/>
            </a:avLst>
          </a:prstGeom>
          <a:solidFill>
            <a:srgbClr val="B8860B"/>
          </a:solidFill>
          <a:ln/>
        </p:spPr>
      </p:sp>
      <p:sp>
        <p:nvSpPr>
          <p:cNvPr id="17" name="Text 15"/>
          <p:cNvSpPr txBox="1"/>
          <p:nvPr/>
        </p:nvSpPr>
        <p:spPr>
          <a:xfrm>
            <a:off x="6255868" y="1746504"/>
            <a:ext cx="2533574"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GOLD</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trusted star schema</a:t>
            </a:r>
            <a:endParaRPr lang="en-US" sz="1500" dirty="0"/>
          </a:p>
        </p:txBody>
      </p:sp>
      <p:sp>
        <p:nvSpPr>
          <p:cNvPr id="18" name="Shape 16"/>
          <p:cNvSpPr/>
          <p:nvPr/>
        </p:nvSpPr>
        <p:spPr>
          <a:xfrm>
            <a:off x="6255868" y="2487168"/>
            <a:ext cx="2533574" cy="3063240"/>
          </a:xfrm>
          <a:prstGeom prst="roundRect">
            <a:avLst>
              <a:gd name="adj" fmla="val 2887"/>
            </a:avLst>
          </a:prstGeom>
          <a:solidFill>
            <a:srgbClr val="F3F5F8"/>
          </a:solidFill>
          <a:ln/>
        </p:spPr>
      </p:sp>
      <p:sp>
        <p:nvSpPr>
          <p:cNvPr id="19" name="Text 17"/>
          <p:cNvSpPr txBox="1"/>
          <p:nvPr/>
        </p:nvSpPr>
        <p:spPr>
          <a:xfrm>
            <a:off x="6420460" y="2670048"/>
            <a:ext cx="2204390" cy="2011680"/>
          </a:xfrm>
          <a:prstGeom prst="rect">
            <a:avLst/>
          </a:prstGeom>
          <a:noFill/>
          <a:ln/>
        </p:spPr>
        <p:txBody>
          <a:bodyPr wrap="square" lIns="0" tIns="0" rIns="0" bIns="0" rtlCol="0" anchor="t"/>
          <a:lstStyle/>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fact_sales</a:t>
            </a:r>
            <a:r>
              <a:rPr lang="en-US" sz="1400" dirty="0">
                <a:solidFill>
                  <a:srgbClr val="5B6573"/>
                </a:solidFill>
                <a:latin typeface="Calibri" pitchFamily="34" charset="0"/>
                <a:ea typeface="Calibri" pitchFamily="34" charset="-122"/>
                <a:cs typeface="Calibri" pitchFamily="34" charset="-120"/>
              </a:rPr>
              <a:t>: one row per receipt line, value per currency plus USD</a:t>
            </a:r>
            <a:endParaRPr lang="en-US" sz="1400" dirty="0"/>
          </a:p>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6 dimensions</a:t>
            </a:r>
            <a:r>
              <a:rPr lang="en-US" sz="1400" dirty="0">
                <a:solidFill>
                  <a:srgbClr val="5B6573"/>
                </a:solidFill>
                <a:latin typeface="Calibri" pitchFamily="34" charset="0"/>
                <a:ea typeface="Calibri" pitchFamily="34" charset="-122"/>
                <a:cs typeface="Calibri" pitchFamily="34" charset="-120"/>
              </a:rPr>
              <a:t>: trader, branch, product, brand, client, date</a:t>
            </a:r>
            <a:endParaRPr lang="en-US" sz="1400" dirty="0"/>
          </a:p>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Reference data</a:t>
            </a:r>
            <a:r>
              <a:rPr lang="en-US" sz="1400" dirty="0">
                <a:solidFill>
                  <a:srgbClr val="5B6573"/>
                </a:solidFill>
                <a:latin typeface="Calibri" pitchFamily="34" charset="0"/>
                <a:ea typeface="Calibri" pitchFamily="34" charset="-122"/>
                <a:cs typeface="Calibri" pitchFamily="34" charset="-120"/>
              </a:rPr>
              <a:t>: product names, FX, engine parameters, control totals</a:t>
            </a:r>
            <a:endParaRPr lang="en-US" sz="1400" dirty="0"/>
          </a:p>
        </p:txBody>
      </p:sp>
      <p:sp>
        <p:nvSpPr>
          <p:cNvPr id="20" name="Text 18"/>
          <p:cNvSpPr txBox="1"/>
          <p:nvPr/>
        </p:nvSpPr>
        <p:spPr>
          <a:xfrm>
            <a:off x="6420460" y="4709160"/>
            <a:ext cx="2204390" cy="713232"/>
          </a:xfrm>
          <a:prstGeom prst="rect">
            <a:avLst/>
          </a:prstGeom>
          <a:noFill/>
          <a:ln/>
        </p:spPr>
        <p:txBody>
          <a:bodyPr wrap="square" lIns="0" tIns="0" rIns="0" bIns="0" rtlCol="0" anchor="b"/>
          <a:lstStyle/>
          <a:p>
            <a:pPr indent="0" marL="0">
              <a:buNone/>
            </a:pPr>
            <a:r>
              <a:rPr lang="en-US" sz="1350" b="1" dirty="0">
                <a:solidFill>
                  <a:srgbClr val="B8860B"/>
                </a:solidFill>
                <a:latin typeface="Calibri" pitchFamily="34" charset="0"/>
                <a:ea typeface="Calibri" pitchFamily="34" charset="-122"/>
                <a:cs typeface="Calibri" pitchFamily="34" charset="-120"/>
              </a:rPr>
              <a:t>Rule: </a:t>
            </a:r>
            <a:r>
              <a:rPr lang="en-US" sz="1350" i="1" dirty="0">
                <a:solidFill>
                  <a:srgbClr val="1B2430"/>
                </a:solidFill>
                <a:latin typeface="Calibri" pitchFamily="34" charset="0"/>
                <a:ea typeface="Calibri" pitchFamily="34" charset="-122"/>
                <a:cs typeface="Calibri" pitchFamily="34" charset="-120"/>
              </a:rPr>
              <a:t>Only rows that passed silver checks and reconciliation.</a:t>
            </a:r>
            <a:endParaRPr lang="en-US" sz="1350" dirty="0"/>
          </a:p>
        </p:txBody>
      </p:sp>
      <p:sp>
        <p:nvSpPr>
          <p:cNvPr id="21" name="Shape 19"/>
          <p:cNvSpPr/>
          <p:nvPr/>
        </p:nvSpPr>
        <p:spPr>
          <a:xfrm>
            <a:off x="8835161" y="2029968"/>
            <a:ext cx="228600" cy="0"/>
          </a:xfrm>
          <a:prstGeom prst="line">
            <a:avLst/>
          </a:prstGeom>
          <a:noFill/>
          <a:ln w="22225">
            <a:solidFill>
              <a:srgbClr val="5B6573"/>
            </a:solidFill>
            <a:prstDash val="solid"/>
            <a:tailEnd type="triangle"/>
          </a:ln>
        </p:spPr>
      </p:sp>
      <p:sp>
        <p:nvSpPr>
          <p:cNvPr id="22" name="Shape 20"/>
          <p:cNvSpPr/>
          <p:nvPr/>
        </p:nvSpPr>
        <p:spPr>
          <a:xfrm>
            <a:off x="9109481" y="1691640"/>
            <a:ext cx="2533574" cy="676656"/>
          </a:xfrm>
          <a:prstGeom prst="roundRect">
            <a:avLst>
              <a:gd name="adj" fmla="val 10811"/>
            </a:avLst>
          </a:prstGeom>
          <a:solidFill>
            <a:srgbClr val="A23B5B"/>
          </a:solidFill>
          <a:ln/>
        </p:spPr>
      </p:sp>
      <p:sp>
        <p:nvSpPr>
          <p:cNvPr id="23" name="Text 21"/>
          <p:cNvSpPr txBox="1"/>
          <p:nvPr/>
        </p:nvSpPr>
        <p:spPr>
          <a:xfrm>
            <a:off x="9109481" y="1746504"/>
            <a:ext cx="2533574" cy="566928"/>
          </a:xfrm>
          <a:prstGeom prst="rect">
            <a:avLst/>
          </a:prstGeom>
          <a:no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SCORING</a:t>
            </a:r>
            <a:endParaRPr lang="en-US" sz="1500" dirty="0"/>
          </a:p>
          <a:p>
            <a:pPr algn="ctr" indent="0" marL="0">
              <a:buNone/>
            </a:pPr>
            <a:r>
              <a:rPr lang="en-US" sz="1100" i="1" dirty="0">
                <a:solidFill>
                  <a:srgbClr val="FFFFFF"/>
                </a:solidFill>
                <a:latin typeface="Calibri" pitchFamily="34" charset="0"/>
                <a:ea typeface="Calibri" pitchFamily="34" charset="-122"/>
                <a:cs typeface="Calibri" pitchFamily="34" charset="-120"/>
              </a:rPr>
              <a:t>engine output</a:t>
            </a:r>
            <a:endParaRPr lang="en-US" sz="1500" dirty="0"/>
          </a:p>
        </p:txBody>
      </p:sp>
      <p:sp>
        <p:nvSpPr>
          <p:cNvPr id="24" name="Shape 22"/>
          <p:cNvSpPr/>
          <p:nvPr/>
        </p:nvSpPr>
        <p:spPr>
          <a:xfrm>
            <a:off x="9109481" y="2487168"/>
            <a:ext cx="2533574" cy="3063240"/>
          </a:xfrm>
          <a:prstGeom prst="roundRect">
            <a:avLst>
              <a:gd name="adj" fmla="val 2887"/>
            </a:avLst>
          </a:prstGeom>
          <a:solidFill>
            <a:srgbClr val="F3F5F8"/>
          </a:solidFill>
          <a:ln/>
        </p:spPr>
      </p:sp>
      <p:sp>
        <p:nvSpPr>
          <p:cNvPr id="25" name="Text 23"/>
          <p:cNvSpPr txBox="1"/>
          <p:nvPr/>
        </p:nvSpPr>
        <p:spPr>
          <a:xfrm>
            <a:off x="9274073" y="2670048"/>
            <a:ext cx="2204390" cy="2011680"/>
          </a:xfrm>
          <a:prstGeom prst="rect">
            <a:avLst/>
          </a:prstGeom>
          <a:noFill/>
          <a:ln/>
        </p:spPr>
        <p:txBody>
          <a:bodyPr wrap="square" lIns="0" tIns="0" rIns="0" bIns="0" rtlCol="0" anchor="t"/>
          <a:lstStyle/>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runs</a:t>
            </a:r>
            <a:r>
              <a:rPr lang="en-US" sz="1400" dirty="0">
                <a:solidFill>
                  <a:srgbClr val="5B6573"/>
                </a:solidFill>
                <a:latin typeface="Calibri" pitchFamily="34" charset="0"/>
                <a:ea typeface="Calibri" pitchFamily="34" charset="-122"/>
                <a:cs typeface="Calibri" pitchFamily="34" charset="-120"/>
              </a:rPr>
              <a:t>: one per scoring run, with the parameters it used</a:t>
            </a:r>
            <a:endParaRPr lang="en-US" sz="1400" dirty="0"/>
          </a:p>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trader_scores</a:t>
            </a:r>
            <a:r>
              <a:rPr lang="en-US" sz="1400" dirty="0">
                <a:solidFill>
                  <a:srgbClr val="5B6573"/>
                </a:solidFill>
                <a:latin typeface="Calibri" pitchFamily="34" charset="0"/>
                <a:ea typeface="Calibri" pitchFamily="34" charset="-122"/>
                <a:cs typeface="Calibri" pitchFamily="34" charset="-120"/>
              </a:rPr>
              <a:t>: RFM, state, tier, usual gap, priority, usual basket</a:t>
            </a:r>
            <a:endParaRPr lang="en-US" sz="1400" dirty="0"/>
          </a:p>
          <a:p>
            <a:pPr indent="0" marL="0">
              <a:spcAft>
                <a:spcPts val="1000"/>
              </a:spcAft>
              <a:buNone/>
            </a:pPr>
            <a:r>
              <a:rPr lang="en-US" sz="1400" b="1" dirty="0">
                <a:solidFill>
                  <a:srgbClr val="1B2430"/>
                </a:solidFill>
                <a:latin typeface="Calibri" pitchFamily="34" charset="0"/>
                <a:ea typeface="Calibri" pitchFamily="34" charset="-122"/>
                <a:cs typeface="Calibri" pitchFamily="34" charset="-120"/>
              </a:rPr>
              <a:t>triggers</a:t>
            </a:r>
            <a:r>
              <a:rPr lang="en-US" sz="1400" dirty="0">
                <a:solidFill>
                  <a:srgbClr val="5B6573"/>
                </a:solidFill>
                <a:latin typeface="Calibri" pitchFamily="34" charset="0"/>
                <a:ea typeface="Calibri" pitchFamily="34" charset="-122"/>
                <a:cs typeface="Calibri" pitchFamily="34" charset="-120"/>
              </a:rPr>
              <a:t>: welcome, usual day, lapse, basket drop, tier move</a:t>
            </a:r>
            <a:endParaRPr lang="en-US" sz="1400" dirty="0"/>
          </a:p>
        </p:txBody>
      </p:sp>
      <p:sp>
        <p:nvSpPr>
          <p:cNvPr id="26" name="Text 24"/>
          <p:cNvSpPr txBox="1"/>
          <p:nvPr/>
        </p:nvSpPr>
        <p:spPr>
          <a:xfrm>
            <a:off x="9274073" y="4709160"/>
            <a:ext cx="2204390" cy="713232"/>
          </a:xfrm>
          <a:prstGeom prst="rect">
            <a:avLst/>
          </a:prstGeom>
          <a:noFill/>
          <a:ln/>
        </p:spPr>
        <p:txBody>
          <a:bodyPr wrap="square" lIns="0" tIns="0" rIns="0" bIns="0" rtlCol="0" anchor="b"/>
          <a:lstStyle/>
          <a:p>
            <a:pPr indent="0" marL="0">
              <a:buNone/>
            </a:pPr>
            <a:r>
              <a:rPr lang="en-US" sz="1350" b="1" dirty="0">
                <a:solidFill>
                  <a:srgbClr val="A23B5B"/>
                </a:solidFill>
                <a:latin typeface="Calibri" pitchFamily="34" charset="0"/>
                <a:ea typeface="Calibri" pitchFamily="34" charset="-122"/>
                <a:cs typeface="Calibri" pitchFamily="34" charset="-120"/>
              </a:rPr>
              <a:t>Rule: </a:t>
            </a:r>
            <a:r>
              <a:rPr lang="en-US" sz="1350" i="1" dirty="0">
                <a:solidFill>
                  <a:srgbClr val="1B2430"/>
                </a:solidFill>
                <a:latin typeface="Calibri" pitchFamily="34" charset="0"/>
                <a:ea typeface="Calibri" pitchFamily="34" charset="-122"/>
                <a:cs typeface="Calibri" pitchFamily="34" charset="-120"/>
              </a:rPr>
              <a:t>Append-only, so any past queue can be rebuilt.</a:t>
            </a:r>
            <a:endParaRPr lang="en-US" sz="1350" dirty="0"/>
          </a:p>
        </p:txBody>
      </p:sp>
      <p:sp>
        <p:nvSpPr>
          <p:cNvPr id="27" name="Text 25"/>
          <p:cNvSpPr txBox="1"/>
          <p:nvPr/>
        </p:nvSpPr>
        <p:spPr>
          <a:xfrm>
            <a:off x="548640" y="5806440"/>
            <a:ext cx="11094415" cy="320040"/>
          </a:xfrm>
          <a:prstGeom prst="rect">
            <a:avLst/>
          </a:prstGeom>
          <a:noFill/>
          <a:ln/>
        </p:spPr>
        <p:txBody>
          <a:bodyPr wrap="square" lIns="0" tIns="0" rIns="0" bIns="0" rtlCol="0" anchor="t"/>
          <a:lstStyle/>
          <a:p>
            <a:pPr indent="0" marL="0">
              <a:buNone/>
            </a:pPr>
            <a:r>
              <a:rPr lang="en-US" sz="1250" i="1" dirty="0">
                <a:solidFill>
                  <a:srgbClr val="5B6573"/>
                </a:solidFill>
                <a:latin typeface="Calibri" pitchFamily="34" charset="0"/>
                <a:ea typeface="Calibri" pitchFamily="34" charset="-122"/>
                <a:cs typeface="Calibri" pitchFamily="34" charset="-120"/>
              </a:rPr>
              <a:t>Every table carries client_id and every foreign key includes it, so no row can point at another client's data.</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Gold: a star schema around fact_sales</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Receipt-line grain. Walk-in sales stay in the totals with no customer; currencies are never summed raw</a:t>
            </a:r>
            <a:endParaRPr lang="en-US" sz="1600" dirty="0"/>
          </a:p>
        </p:txBody>
      </p:sp>
      <p:sp>
        <p:nvSpPr>
          <p:cNvPr id="4" name="Shape 2"/>
          <p:cNvSpPr/>
          <p:nvPr/>
        </p:nvSpPr>
        <p:spPr>
          <a:xfrm>
            <a:off x="548640" y="1691640"/>
            <a:ext cx="2240280" cy="1280160"/>
          </a:xfrm>
          <a:prstGeom prst="roundRect">
            <a:avLst>
              <a:gd name="adj" fmla="val 5714"/>
            </a:avLst>
          </a:prstGeom>
          <a:solidFill>
            <a:srgbClr val="FFFFFF"/>
          </a:solidFill>
          <a:ln w="12700">
            <a:solidFill>
              <a:srgbClr val="D5DAE1"/>
            </a:solidFill>
            <a:prstDash val="solid"/>
          </a:ln>
        </p:spPr>
      </p:sp>
      <p:sp>
        <p:nvSpPr>
          <p:cNvPr id="5" name="Text 3"/>
          <p:cNvSpPr txBox="1"/>
          <p:nvPr/>
        </p:nvSpPr>
        <p:spPr>
          <a:xfrm>
            <a:off x="713232" y="1819656"/>
            <a:ext cx="1911096" cy="329184"/>
          </a:xfrm>
          <a:prstGeom prst="rect">
            <a:avLst/>
          </a:prstGeom>
          <a:noFill/>
          <a:ln/>
        </p:spPr>
        <p:txBody>
          <a:bodyPr wrap="square" lIns="0" tIns="0" rIns="0" bIns="0" rtlCol="0" anchor="t"/>
          <a:lstStyle/>
          <a:p>
            <a:pPr indent="0" marL="0">
              <a:buNone/>
            </a:pPr>
            <a:r>
              <a:rPr lang="en-US" sz="1400" b="1" dirty="0">
                <a:solidFill>
                  <a:srgbClr val="B8860B"/>
                </a:solidFill>
                <a:latin typeface="Calibri" pitchFamily="34" charset="0"/>
                <a:ea typeface="Calibri" pitchFamily="34" charset="-122"/>
                <a:cs typeface="Calibri" pitchFamily="34" charset="-120"/>
              </a:rPr>
              <a:t>dim_customer</a:t>
            </a:r>
            <a:endParaRPr lang="en-US" sz="1400" dirty="0"/>
          </a:p>
        </p:txBody>
      </p:sp>
      <p:sp>
        <p:nvSpPr>
          <p:cNvPr id="6" name="Text 4"/>
          <p:cNvSpPr txBox="1"/>
          <p:nvPr/>
        </p:nvSpPr>
        <p:spPr>
          <a:xfrm>
            <a:off x="713232" y="2167128"/>
            <a:ext cx="1911096" cy="713232"/>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The trader: code PD‑HF‑000001 and phone +2637…</a:t>
            </a:r>
            <a:endParaRPr lang="en-US" sz="1200" dirty="0"/>
          </a:p>
        </p:txBody>
      </p:sp>
      <p:sp>
        <p:nvSpPr>
          <p:cNvPr id="7" name="Shape 5"/>
          <p:cNvSpPr/>
          <p:nvPr/>
        </p:nvSpPr>
        <p:spPr>
          <a:xfrm>
            <a:off x="2788920" y="2331720"/>
            <a:ext cx="640080" cy="1051560"/>
          </a:xfrm>
          <a:prstGeom prst="line">
            <a:avLst/>
          </a:prstGeom>
          <a:noFill/>
          <a:ln w="19050">
            <a:solidFill>
              <a:srgbClr val="D5DAE1"/>
            </a:solidFill>
            <a:prstDash val="solid"/>
          </a:ln>
        </p:spPr>
      </p:sp>
      <p:sp>
        <p:nvSpPr>
          <p:cNvPr id="8" name="Shape 6"/>
          <p:cNvSpPr/>
          <p:nvPr/>
        </p:nvSpPr>
        <p:spPr>
          <a:xfrm>
            <a:off x="548640" y="3246120"/>
            <a:ext cx="2240280" cy="1280160"/>
          </a:xfrm>
          <a:prstGeom prst="roundRect">
            <a:avLst>
              <a:gd name="adj" fmla="val 5714"/>
            </a:avLst>
          </a:prstGeom>
          <a:solidFill>
            <a:srgbClr val="FFFFFF"/>
          </a:solidFill>
          <a:ln w="12700">
            <a:solidFill>
              <a:srgbClr val="D5DAE1"/>
            </a:solidFill>
            <a:prstDash val="solid"/>
          </a:ln>
        </p:spPr>
      </p:sp>
      <p:sp>
        <p:nvSpPr>
          <p:cNvPr id="9" name="Text 7"/>
          <p:cNvSpPr txBox="1"/>
          <p:nvPr/>
        </p:nvSpPr>
        <p:spPr>
          <a:xfrm>
            <a:off x="713232" y="3374136"/>
            <a:ext cx="1911096" cy="329184"/>
          </a:xfrm>
          <a:prstGeom prst="rect">
            <a:avLst/>
          </a:prstGeom>
          <a:noFill/>
          <a:ln/>
        </p:spPr>
        <p:txBody>
          <a:bodyPr wrap="square" lIns="0" tIns="0" rIns="0" bIns="0" rtlCol="0" anchor="t"/>
          <a:lstStyle/>
          <a:p>
            <a:pPr indent="0" marL="0">
              <a:buNone/>
            </a:pPr>
            <a:r>
              <a:rPr lang="en-US" sz="1400" b="1" dirty="0">
                <a:solidFill>
                  <a:srgbClr val="B8860B"/>
                </a:solidFill>
                <a:latin typeface="Calibri" pitchFamily="34" charset="0"/>
                <a:ea typeface="Calibri" pitchFamily="34" charset="-122"/>
                <a:cs typeface="Calibri" pitchFamily="34" charset="-120"/>
              </a:rPr>
              <a:t>dim_branch</a:t>
            </a:r>
            <a:endParaRPr lang="en-US" sz="1400" dirty="0"/>
          </a:p>
        </p:txBody>
      </p:sp>
      <p:sp>
        <p:nvSpPr>
          <p:cNvPr id="10" name="Text 8"/>
          <p:cNvSpPr txBox="1"/>
          <p:nvPr/>
        </p:nvSpPr>
        <p:spPr>
          <a:xfrm>
            <a:off x="713232" y="3721608"/>
            <a:ext cx="1911096" cy="713232"/>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The shops (Highfield so far) and their upload cadence.</a:t>
            </a:r>
            <a:endParaRPr lang="en-US" sz="1200" dirty="0"/>
          </a:p>
        </p:txBody>
      </p:sp>
      <p:sp>
        <p:nvSpPr>
          <p:cNvPr id="11" name="Shape 9"/>
          <p:cNvSpPr/>
          <p:nvPr/>
        </p:nvSpPr>
        <p:spPr>
          <a:xfrm>
            <a:off x="2788920" y="3886200"/>
            <a:ext cx="640080" cy="0"/>
          </a:xfrm>
          <a:prstGeom prst="line">
            <a:avLst/>
          </a:prstGeom>
          <a:noFill/>
          <a:ln w="19050">
            <a:solidFill>
              <a:srgbClr val="D5DAE1"/>
            </a:solidFill>
            <a:prstDash val="solid"/>
          </a:ln>
        </p:spPr>
      </p:sp>
      <p:sp>
        <p:nvSpPr>
          <p:cNvPr id="12" name="Shape 10"/>
          <p:cNvSpPr/>
          <p:nvPr/>
        </p:nvSpPr>
        <p:spPr>
          <a:xfrm>
            <a:off x="548640" y="4800600"/>
            <a:ext cx="2240280" cy="1280160"/>
          </a:xfrm>
          <a:prstGeom prst="roundRect">
            <a:avLst>
              <a:gd name="adj" fmla="val 5714"/>
            </a:avLst>
          </a:prstGeom>
          <a:solidFill>
            <a:srgbClr val="FFFFFF"/>
          </a:solidFill>
          <a:ln w="12700">
            <a:solidFill>
              <a:srgbClr val="D5DAE1"/>
            </a:solidFill>
            <a:prstDash val="solid"/>
          </a:ln>
        </p:spPr>
      </p:sp>
      <p:sp>
        <p:nvSpPr>
          <p:cNvPr id="13" name="Text 11"/>
          <p:cNvSpPr txBox="1"/>
          <p:nvPr/>
        </p:nvSpPr>
        <p:spPr>
          <a:xfrm>
            <a:off x="713232" y="4928616"/>
            <a:ext cx="1911096" cy="329184"/>
          </a:xfrm>
          <a:prstGeom prst="rect">
            <a:avLst/>
          </a:prstGeom>
          <a:noFill/>
          <a:ln/>
        </p:spPr>
        <p:txBody>
          <a:bodyPr wrap="square" lIns="0" tIns="0" rIns="0" bIns="0" rtlCol="0" anchor="t"/>
          <a:lstStyle/>
          <a:p>
            <a:pPr indent="0" marL="0">
              <a:buNone/>
            </a:pPr>
            <a:r>
              <a:rPr lang="en-US" sz="1400" b="1" dirty="0">
                <a:solidFill>
                  <a:srgbClr val="B8860B"/>
                </a:solidFill>
                <a:latin typeface="Calibri" pitchFamily="34" charset="0"/>
                <a:ea typeface="Calibri" pitchFamily="34" charset="-122"/>
                <a:cs typeface="Calibri" pitchFamily="34" charset="-120"/>
              </a:rPr>
              <a:t>dim_client</a:t>
            </a:r>
            <a:endParaRPr lang="en-US" sz="1400" dirty="0"/>
          </a:p>
        </p:txBody>
      </p:sp>
      <p:sp>
        <p:nvSpPr>
          <p:cNvPr id="14" name="Text 12"/>
          <p:cNvSpPr txBox="1"/>
          <p:nvPr/>
        </p:nvSpPr>
        <p:spPr>
          <a:xfrm>
            <a:off x="713232" y="5276088"/>
            <a:ext cx="1911096" cy="713232"/>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The tenant, PRODAIRY; its status is the kill switch.</a:t>
            </a:r>
            <a:endParaRPr lang="en-US" sz="1200" dirty="0"/>
          </a:p>
        </p:txBody>
      </p:sp>
      <p:sp>
        <p:nvSpPr>
          <p:cNvPr id="15" name="Shape 13"/>
          <p:cNvSpPr/>
          <p:nvPr/>
        </p:nvSpPr>
        <p:spPr>
          <a:xfrm flipV="1">
            <a:off x="2788920" y="4389120"/>
            <a:ext cx="640080" cy="1051560"/>
          </a:xfrm>
          <a:prstGeom prst="line">
            <a:avLst/>
          </a:prstGeom>
          <a:noFill/>
          <a:ln w="19050">
            <a:solidFill>
              <a:srgbClr val="D5DAE1"/>
            </a:solidFill>
            <a:prstDash val="solid"/>
          </a:ln>
        </p:spPr>
      </p:sp>
      <p:sp>
        <p:nvSpPr>
          <p:cNvPr id="16" name="Shape 14"/>
          <p:cNvSpPr/>
          <p:nvPr/>
        </p:nvSpPr>
        <p:spPr>
          <a:xfrm>
            <a:off x="5989320" y="1691640"/>
            <a:ext cx="2240280" cy="1280160"/>
          </a:xfrm>
          <a:prstGeom prst="roundRect">
            <a:avLst>
              <a:gd name="adj" fmla="val 5714"/>
            </a:avLst>
          </a:prstGeom>
          <a:solidFill>
            <a:srgbClr val="FFFFFF"/>
          </a:solidFill>
          <a:ln w="12700">
            <a:solidFill>
              <a:srgbClr val="D5DAE1"/>
            </a:solidFill>
            <a:prstDash val="solid"/>
          </a:ln>
        </p:spPr>
      </p:sp>
      <p:sp>
        <p:nvSpPr>
          <p:cNvPr id="17" name="Text 15"/>
          <p:cNvSpPr txBox="1"/>
          <p:nvPr/>
        </p:nvSpPr>
        <p:spPr>
          <a:xfrm>
            <a:off x="6153912" y="1819656"/>
            <a:ext cx="1911096" cy="329184"/>
          </a:xfrm>
          <a:prstGeom prst="rect">
            <a:avLst/>
          </a:prstGeom>
          <a:noFill/>
          <a:ln/>
        </p:spPr>
        <p:txBody>
          <a:bodyPr wrap="square" lIns="0" tIns="0" rIns="0" bIns="0" rtlCol="0" anchor="t"/>
          <a:lstStyle/>
          <a:p>
            <a:pPr indent="0" marL="0">
              <a:buNone/>
            </a:pPr>
            <a:r>
              <a:rPr lang="en-US" sz="1400" b="1" dirty="0">
                <a:solidFill>
                  <a:srgbClr val="B8860B"/>
                </a:solidFill>
                <a:latin typeface="Calibri" pitchFamily="34" charset="0"/>
                <a:ea typeface="Calibri" pitchFamily="34" charset="-122"/>
                <a:cs typeface="Calibri" pitchFamily="34" charset="-120"/>
              </a:rPr>
              <a:t>dim_product</a:t>
            </a:r>
            <a:endParaRPr lang="en-US" sz="1400" dirty="0"/>
          </a:p>
        </p:txBody>
      </p:sp>
      <p:sp>
        <p:nvSpPr>
          <p:cNvPr id="18" name="Text 16"/>
          <p:cNvSpPr txBox="1"/>
          <p:nvPr/>
        </p:nvSpPr>
        <p:spPr>
          <a:xfrm>
            <a:off x="6153912" y="2167128"/>
            <a:ext cx="1911096" cy="713232"/>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Controlled list, e.g. LIFE_250ML; units per case.</a:t>
            </a:r>
            <a:endParaRPr lang="en-US" sz="1200" dirty="0"/>
          </a:p>
        </p:txBody>
      </p:sp>
      <p:sp>
        <p:nvSpPr>
          <p:cNvPr id="19" name="Shape 17"/>
          <p:cNvSpPr/>
          <p:nvPr/>
        </p:nvSpPr>
        <p:spPr>
          <a:xfrm flipV="1">
            <a:off x="5349240" y="2331720"/>
            <a:ext cx="640080" cy="1051560"/>
          </a:xfrm>
          <a:prstGeom prst="line">
            <a:avLst/>
          </a:prstGeom>
          <a:noFill/>
          <a:ln w="19050">
            <a:solidFill>
              <a:srgbClr val="D5DAE1"/>
            </a:solidFill>
            <a:prstDash val="solid"/>
          </a:ln>
        </p:spPr>
      </p:sp>
      <p:sp>
        <p:nvSpPr>
          <p:cNvPr id="20" name="Shape 18"/>
          <p:cNvSpPr/>
          <p:nvPr/>
        </p:nvSpPr>
        <p:spPr>
          <a:xfrm>
            <a:off x="5989320" y="3246120"/>
            <a:ext cx="2240280" cy="1280160"/>
          </a:xfrm>
          <a:prstGeom prst="roundRect">
            <a:avLst>
              <a:gd name="adj" fmla="val 5714"/>
            </a:avLst>
          </a:prstGeom>
          <a:solidFill>
            <a:srgbClr val="FFFFFF"/>
          </a:solidFill>
          <a:ln w="12700">
            <a:solidFill>
              <a:srgbClr val="D5DAE1"/>
            </a:solidFill>
            <a:prstDash val="solid"/>
          </a:ln>
        </p:spPr>
      </p:sp>
      <p:sp>
        <p:nvSpPr>
          <p:cNvPr id="21" name="Text 19"/>
          <p:cNvSpPr txBox="1"/>
          <p:nvPr/>
        </p:nvSpPr>
        <p:spPr>
          <a:xfrm>
            <a:off x="6153912" y="3374136"/>
            <a:ext cx="1911096" cy="329184"/>
          </a:xfrm>
          <a:prstGeom prst="rect">
            <a:avLst/>
          </a:prstGeom>
          <a:noFill/>
          <a:ln/>
        </p:spPr>
        <p:txBody>
          <a:bodyPr wrap="square" lIns="0" tIns="0" rIns="0" bIns="0" rtlCol="0" anchor="t"/>
          <a:lstStyle/>
          <a:p>
            <a:pPr indent="0" marL="0">
              <a:buNone/>
            </a:pPr>
            <a:r>
              <a:rPr lang="en-US" sz="1400" b="1" dirty="0">
                <a:solidFill>
                  <a:srgbClr val="B8860B"/>
                </a:solidFill>
                <a:latin typeface="Calibri" pitchFamily="34" charset="0"/>
                <a:ea typeface="Calibri" pitchFamily="34" charset="-122"/>
                <a:cs typeface="Calibri" pitchFamily="34" charset="-120"/>
              </a:rPr>
              <a:t>dim_date</a:t>
            </a:r>
            <a:endParaRPr lang="en-US" sz="1400" dirty="0"/>
          </a:p>
        </p:txBody>
      </p:sp>
      <p:sp>
        <p:nvSpPr>
          <p:cNvPr id="22" name="Text 20"/>
          <p:cNvSpPr txBox="1"/>
          <p:nvPr/>
        </p:nvSpPr>
        <p:spPr>
          <a:xfrm>
            <a:off x="6153912" y="3721608"/>
            <a:ext cx="1911096" cy="713232"/>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Calendar 2025–2028: ISO week, month end, weekday.</a:t>
            </a:r>
            <a:endParaRPr lang="en-US" sz="1200" dirty="0"/>
          </a:p>
        </p:txBody>
      </p:sp>
      <p:sp>
        <p:nvSpPr>
          <p:cNvPr id="23" name="Shape 21"/>
          <p:cNvSpPr/>
          <p:nvPr/>
        </p:nvSpPr>
        <p:spPr>
          <a:xfrm>
            <a:off x="5349240" y="3886200"/>
            <a:ext cx="640080" cy="0"/>
          </a:xfrm>
          <a:prstGeom prst="line">
            <a:avLst/>
          </a:prstGeom>
          <a:noFill/>
          <a:ln w="19050">
            <a:solidFill>
              <a:srgbClr val="D5DAE1"/>
            </a:solidFill>
            <a:prstDash val="solid"/>
          </a:ln>
        </p:spPr>
      </p:sp>
      <p:sp>
        <p:nvSpPr>
          <p:cNvPr id="24" name="Shape 22"/>
          <p:cNvSpPr/>
          <p:nvPr/>
        </p:nvSpPr>
        <p:spPr>
          <a:xfrm>
            <a:off x="5989320" y="4800600"/>
            <a:ext cx="2240280" cy="1280160"/>
          </a:xfrm>
          <a:prstGeom prst="roundRect">
            <a:avLst>
              <a:gd name="adj" fmla="val 5714"/>
            </a:avLst>
          </a:prstGeom>
          <a:solidFill>
            <a:srgbClr val="FFFFFF"/>
          </a:solidFill>
          <a:ln w="12700">
            <a:solidFill>
              <a:srgbClr val="D5DAE1"/>
            </a:solidFill>
            <a:prstDash val="solid"/>
          </a:ln>
        </p:spPr>
      </p:sp>
      <p:sp>
        <p:nvSpPr>
          <p:cNvPr id="25" name="Text 23"/>
          <p:cNvSpPr txBox="1"/>
          <p:nvPr/>
        </p:nvSpPr>
        <p:spPr>
          <a:xfrm>
            <a:off x="6153912" y="4928616"/>
            <a:ext cx="1911096" cy="329184"/>
          </a:xfrm>
          <a:prstGeom prst="rect">
            <a:avLst/>
          </a:prstGeom>
          <a:noFill/>
          <a:ln/>
        </p:spPr>
        <p:txBody>
          <a:bodyPr wrap="square" lIns="0" tIns="0" rIns="0" bIns="0" rtlCol="0" anchor="t"/>
          <a:lstStyle/>
          <a:p>
            <a:pPr indent="0" marL="0">
              <a:buNone/>
            </a:pPr>
            <a:r>
              <a:rPr lang="en-US" sz="1400" b="1" dirty="0">
                <a:solidFill>
                  <a:srgbClr val="B8860B"/>
                </a:solidFill>
                <a:latin typeface="Calibri" pitchFamily="34" charset="0"/>
                <a:ea typeface="Calibri" pitchFamily="34" charset="-122"/>
                <a:cs typeface="Calibri" pitchFamily="34" charset="-120"/>
              </a:rPr>
              <a:t>dim_brand</a:t>
            </a:r>
            <a:endParaRPr lang="en-US" sz="1400" dirty="0"/>
          </a:p>
        </p:txBody>
      </p:sp>
      <p:sp>
        <p:nvSpPr>
          <p:cNvPr id="26" name="Text 24"/>
          <p:cNvSpPr txBox="1"/>
          <p:nvPr/>
        </p:nvSpPr>
        <p:spPr>
          <a:xfrm>
            <a:off x="6153912" y="5276088"/>
            <a:ext cx="1911096" cy="713232"/>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Brands per client, e.g. LIFE.</a:t>
            </a:r>
            <a:endParaRPr lang="en-US" sz="1200" dirty="0"/>
          </a:p>
        </p:txBody>
      </p:sp>
      <p:sp>
        <p:nvSpPr>
          <p:cNvPr id="27" name="Shape 25"/>
          <p:cNvSpPr/>
          <p:nvPr/>
        </p:nvSpPr>
        <p:spPr>
          <a:xfrm>
            <a:off x="5349240" y="4389120"/>
            <a:ext cx="640080" cy="1051560"/>
          </a:xfrm>
          <a:prstGeom prst="line">
            <a:avLst/>
          </a:prstGeom>
          <a:noFill/>
          <a:ln w="19050">
            <a:solidFill>
              <a:srgbClr val="D5DAE1"/>
            </a:solidFill>
            <a:prstDash val="solid"/>
          </a:ln>
        </p:spPr>
      </p:sp>
      <p:sp>
        <p:nvSpPr>
          <p:cNvPr id="28" name="Shape 26"/>
          <p:cNvSpPr/>
          <p:nvPr/>
        </p:nvSpPr>
        <p:spPr>
          <a:xfrm>
            <a:off x="3429000" y="3154680"/>
            <a:ext cx="1920240" cy="1463040"/>
          </a:xfrm>
          <a:prstGeom prst="roundRect">
            <a:avLst>
              <a:gd name="adj" fmla="val 5000"/>
            </a:avLst>
          </a:prstGeom>
          <a:solidFill>
            <a:srgbClr val="B8860B"/>
          </a:solidFill>
          <a:ln/>
        </p:spPr>
      </p:sp>
      <p:sp>
        <p:nvSpPr>
          <p:cNvPr id="29" name="Text 27"/>
          <p:cNvSpPr txBox="1"/>
          <p:nvPr/>
        </p:nvSpPr>
        <p:spPr>
          <a:xfrm>
            <a:off x="3520440" y="3246120"/>
            <a:ext cx="1737360" cy="12801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fact_sales</a:t>
            </a:r>
            <a:endParaRPr lang="en-US" sz="1700" dirty="0"/>
          </a:p>
          <a:p>
            <a:pPr algn="ctr" indent="0" marL="0">
              <a:buNone/>
            </a:pPr>
            <a:r>
              <a:rPr lang="en-US" sz="1150" dirty="0">
                <a:solidFill>
                  <a:srgbClr val="FFFFFF"/>
                </a:solidFill>
                <a:latin typeface="Calibri" pitchFamily="34" charset="0"/>
                <a:ea typeface="Calibri" pitchFamily="34" charset="-122"/>
                <a:cs typeface="Calibri" pitchFamily="34" charset="-120"/>
              </a:rPr>
              <a:t>one row per receipt line</a:t>
            </a:r>
            <a:endParaRPr lang="en-US" sz="1700" dirty="0"/>
          </a:p>
          <a:p>
            <a:pPr algn="ctr" indent="0" marL="0">
              <a:buNone/>
            </a:pPr>
            <a:r>
              <a:rPr lang="en-US" sz="1150" dirty="0">
                <a:solidFill>
                  <a:srgbClr val="FFFFFF"/>
                </a:solidFill>
                <a:latin typeface="Calibri" pitchFamily="34" charset="0"/>
                <a:ea typeface="Calibri" pitchFamily="34" charset="-122"/>
                <a:cs typeface="Calibri" pitchFamily="34" charset="-120"/>
              </a:rPr>
              <a:t>value per currency + USD</a:t>
            </a:r>
            <a:endParaRPr lang="en-US" sz="1700" dirty="0"/>
          </a:p>
          <a:p>
            <a:pPr algn="ctr" indent="0" marL="0">
              <a:buNone/>
            </a:pPr>
            <a:r>
              <a:rPr lang="en-US" sz="1150" dirty="0">
                <a:solidFill>
                  <a:srgbClr val="FFFFFF"/>
                </a:solidFill>
                <a:latin typeface="Calibri" pitchFamily="34" charset="0"/>
                <a:ea typeface="Calibri" pitchFamily="34" charset="-122"/>
                <a:cs typeface="Calibri" pitchFamily="34" charset="-120"/>
              </a:rPr>
              <a:t>source, file and order lineage</a:t>
            </a:r>
            <a:endParaRPr lang="en-US" sz="1700" dirty="0"/>
          </a:p>
        </p:txBody>
      </p:sp>
      <p:sp>
        <p:nvSpPr>
          <p:cNvPr id="30" name="Shape 28"/>
          <p:cNvSpPr/>
          <p:nvPr/>
        </p:nvSpPr>
        <p:spPr>
          <a:xfrm>
            <a:off x="8595360" y="1691640"/>
            <a:ext cx="3047695" cy="4389120"/>
          </a:xfrm>
          <a:prstGeom prst="roundRect">
            <a:avLst>
              <a:gd name="adj" fmla="val 2400"/>
            </a:avLst>
          </a:prstGeom>
          <a:solidFill>
            <a:srgbClr val="F3F5F8"/>
          </a:solidFill>
          <a:ln/>
        </p:spPr>
      </p:sp>
      <p:sp>
        <p:nvSpPr>
          <p:cNvPr id="31" name="Text 29"/>
          <p:cNvSpPr txBox="1"/>
          <p:nvPr/>
        </p:nvSpPr>
        <p:spPr>
          <a:xfrm>
            <a:off x="8796528" y="1828800"/>
            <a:ext cx="2645359" cy="365760"/>
          </a:xfrm>
          <a:prstGeom prst="rect">
            <a:avLst/>
          </a:prstGeom>
          <a:noFill/>
          <a:ln/>
        </p:spPr>
        <p:txBody>
          <a:bodyPr wrap="square" lIns="0" tIns="0" rIns="0" bIns="0" rtlCol="0" anchor="t"/>
          <a:lstStyle/>
          <a:p>
            <a:pPr indent="0" marL="0">
              <a:buNone/>
            </a:pPr>
            <a:r>
              <a:rPr lang="en-US" sz="1500" b="1" dirty="0">
                <a:solidFill>
                  <a:srgbClr val="1B2430"/>
                </a:solidFill>
                <a:latin typeface="Calibri" pitchFamily="34" charset="0"/>
                <a:ea typeface="Calibri" pitchFamily="34" charset="-122"/>
                <a:cs typeface="Calibri" pitchFamily="34" charset="-120"/>
              </a:rPr>
              <a:t>Reference data</a:t>
            </a:r>
            <a:endParaRPr lang="en-US" sz="1500" dirty="0"/>
          </a:p>
        </p:txBody>
      </p:sp>
      <p:sp>
        <p:nvSpPr>
          <p:cNvPr id="32" name="Text 30"/>
          <p:cNvSpPr txBox="1"/>
          <p:nvPr/>
        </p:nvSpPr>
        <p:spPr>
          <a:xfrm>
            <a:off x="8796528" y="2286000"/>
            <a:ext cx="2645359" cy="3703320"/>
          </a:xfrm>
          <a:prstGeom prst="rect">
            <a:avLst/>
          </a:prstGeom>
          <a:noFill/>
          <a:ln/>
        </p:spPr>
        <p:txBody>
          <a:bodyPr wrap="square" lIns="0" tIns="0" rIns="0" bIns="0" rtlCol="0" anchor="t"/>
          <a:lstStyle/>
          <a:p>
            <a:pPr indent="0" marL="0">
              <a:spcAft>
                <a:spcPts val="100"/>
              </a:spcAft>
              <a:buNone/>
            </a:pPr>
            <a:r>
              <a:rPr lang="en-US" sz="1300" b="1" dirty="0">
                <a:solidFill>
                  <a:srgbClr val="1B2430"/>
                </a:solidFill>
                <a:latin typeface="Calibri" pitchFamily="34" charset="0"/>
                <a:ea typeface="Calibri" pitchFamily="34" charset="-122"/>
                <a:cs typeface="Calibri" pitchFamily="34" charset="-120"/>
              </a:rPr>
              <a:t>ref_product_mapping</a:t>
            </a:r>
            <a:endParaRPr lang="en-US" sz="1300" dirty="0"/>
          </a:p>
          <a:p>
            <a:pPr indent="0" marL="0">
              <a:spcAft>
                <a:spcPts val="1000"/>
              </a:spcAft>
              <a:buNone/>
            </a:pPr>
            <a:r>
              <a:rPr lang="en-US" sz="1250" dirty="0">
                <a:solidFill>
                  <a:srgbClr val="5B6573"/>
                </a:solidFill>
                <a:latin typeface="Calibri" pitchFamily="34" charset="0"/>
                <a:ea typeface="Calibri" pitchFamily="34" charset="-122"/>
                <a:cs typeface="Calibri" pitchFamily="34" charset="-120"/>
              </a:rPr>
              <a:t>raw CSV product name → product</a:t>
            </a:r>
            <a:endParaRPr lang="en-US" sz="1300" dirty="0"/>
          </a:p>
          <a:p>
            <a:pPr indent="0" marL="0">
              <a:spcAft>
                <a:spcPts val="100"/>
              </a:spcAft>
              <a:buNone/>
            </a:pPr>
            <a:r>
              <a:rPr lang="en-US" sz="1300" b="1" dirty="0">
                <a:solidFill>
                  <a:srgbClr val="1B2430"/>
                </a:solidFill>
                <a:latin typeface="Calibri" pitchFamily="34" charset="0"/>
                <a:ea typeface="Calibri" pitchFamily="34" charset="-122"/>
                <a:cs typeface="Calibri" pitchFamily="34" charset="-120"/>
              </a:rPr>
              <a:t>ref_fx_rate</a:t>
            </a:r>
            <a:endParaRPr lang="en-US" sz="1300" dirty="0"/>
          </a:p>
          <a:p>
            <a:pPr indent="0" marL="0">
              <a:spcAft>
                <a:spcPts val="1000"/>
              </a:spcAft>
              <a:buNone/>
            </a:pPr>
            <a:r>
              <a:rPr lang="en-US" sz="1250" dirty="0">
                <a:solidFill>
                  <a:srgbClr val="5B6573"/>
                </a:solidFill>
                <a:latin typeface="Calibri" pitchFamily="34" charset="0"/>
                <a:ea typeface="Calibri" pitchFamily="34" charset="-122"/>
                <a:cs typeface="Calibri" pitchFamily="34" charset="-120"/>
              </a:rPr>
              <a:t>daily USD rate per currency</a:t>
            </a:r>
            <a:endParaRPr lang="en-US" sz="1300" dirty="0"/>
          </a:p>
          <a:p>
            <a:pPr indent="0" marL="0">
              <a:spcAft>
                <a:spcPts val="100"/>
              </a:spcAft>
              <a:buNone/>
            </a:pPr>
            <a:r>
              <a:rPr lang="en-US" sz="1300" b="1" dirty="0">
                <a:solidFill>
                  <a:srgbClr val="1B2430"/>
                </a:solidFill>
                <a:latin typeface="Calibri" pitchFamily="34" charset="0"/>
                <a:ea typeface="Calibri" pitchFamily="34" charset="-122"/>
                <a:cs typeface="Calibri" pitchFamily="34" charset="-120"/>
              </a:rPr>
              <a:t>ref_engine_param</a:t>
            </a:r>
            <a:endParaRPr lang="en-US" sz="1300" dirty="0"/>
          </a:p>
          <a:p>
            <a:pPr indent="0" marL="0">
              <a:spcAft>
                <a:spcPts val="1000"/>
              </a:spcAft>
              <a:buNone/>
            </a:pPr>
            <a:r>
              <a:rPr lang="en-US" sz="1250" dirty="0">
                <a:solidFill>
                  <a:srgbClr val="5B6573"/>
                </a:solidFill>
                <a:latin typeface="Calibri" pitchFamily="34" charset="0"/>
                <a:ea typeface="Calibri" pitchFamily="34" charset="-122"/>
                <a:cs typeface="Calibri" pitchFamily="34" charset="-120"/>
              </a:rPr>
              <a:t>versioned scoring thresholds</a:t>
            </a:r>
            <a:endParaRPr lang="en-US" sz="1300" dirty="0"/>
          </a:p>
          <a:p>
            <a:pPr indent="0" marL="0">
              <a:spcAft>
                <a:spcPts val="100"/>
              </a:spcAft>
              <a:buNone/>
            </a:pPr>
            <a:r>
              <a:rPr lang="en-US" sz="1300" b="1" dirty="0">
                <a:solidFill>
                  <a:srgbClr val="1B2430"/>
                </a:solidFill>
                <a:latin typeface="Calibri" pitchFamily="34" charset="0"/>
                <a:ea typeface="Calibri" pitchFamily="34" charset="-122"/>
                <a:cs typeface="Calibri" pitchFamily="34" charset="-120"/>
              </a:rPr>
              <a:t>ref_branch_control_total</a:t>
            </a:r>
            <a:endParaRPr lang="en-US" sz="1300" dirty="0"/>
          </a:p>
          <a:p>
            <a:pPr indent="0" marL="0">
              <a:spcAft>
                <a:spcPts val="1000"/>
              </a:spcAft>
              <a:buNone/>
            </a:pPr>
            <a:r>
              <a:rPr lang="en-US" sz="1250" dirty="0">
                <a:solidFill>
                  <a:srgbClr val="5B6573"/>
                </a:solidFill>
                <a:latin typeface="Calibri" pitchFamily="34" charset="0"/>
                <a:ea typeface="Calibri" pitchFamily="34" charset="-122"/>
                <a:cs typeface="Calibri" pitchFamily="34" charset="-120"/>
              </a:rPr>
              <a:t>ProDairy's monthly totals per branch</a:t>
            </a:r>
            <a:endParaRPr lang="en-US" sz="1300" dirty="0"/>
          </a:p>
          <a:p>
            <a:pPr indent="0" marL="0">
              <a:spcAft>
                <a:spcPts val="100"/>
              </a:spcAft>
              <a:buNone/>
            </a:pPr>
            <a:r>
              <a:rPr lang="en-US" sz="1300" b="1" dirty="0">
                <a:solidFill>
                  <a:srgbClr val="1B2430"/>
                </a:solidFill>
                <a:latin typeface="Calibri" pitchFamily="34" charset="0"/>
                <a:ea typeface="Calibri" pitchFamily="34" charset="-122"/>
                <a:cs typeface="Calibri" pitchFamily="34" charset="-120"/>
              </a:rPr>
              <a:t>issue_trader_code()</a:t>
            </a:r>
            <a:endParaRPr lang="en-US" sz="1300" dirty="0"/>
          </a:p>
          <a:p>
            <a:pPr indent="0" marL="0">
              <a:spcAft>
                <a:spcPts val="1000"/>
              </a:spcAft>
              <a:buNone/>
            </a:pPr>
            <a:r>
              <a:rPr lang="en-US" sz="1250" dirty="0">
                <a:solidFill>
                  <a:srgbClr val="5B6573"/>
                </a:solidFill>
                <a:latin typeface="Calibri" pitchFamily="34" charset="0"/>
                <a:ea typeface="Calibri" pitchFamily="34" charset="-122"/>
                <a:cs typeface="Calibri" pitchFamily="34" charset="-120"/>
              </a:rPr>
              <a:t>race-free trader codes per branch</a:t>
            </a:r>
            <a:endParaRPr lang="en-US" sz="1300" dirty="0"/>
          </a:p>
          <a:p>
            <a:pPr indent="0" marL="0">
              <a:spcAft>
                <a:spcPts val="100"/>
              </a:spcAft>
              <a:buNone/>
            </a:pPr>
            <a:r>
              <a:rPr lang="en-US" sz="1300" b="1" dirty="0">
                <a:solidFill>
                  <a:srgbClr val="1B2430"/>
                </a:solidFill>
                <a:latin typeface="Calibri" pitchFamily="34" charset="0"/>
                <a:ea typeface="Calibri" pitchFamily="34" charset="-122"/>
                <a:cs typeface="Calibri" pitchFamily="34" charset="-120"/>
              </a:rPr>
              <a:t>v_branch_data_freshness</a:t>
            </a:r>
            <a:endParaRPr lang="en-US" sz="1300" dirty="0"/>
          </a:p>
          <a:p>
            <a:pPr indent="0" marL="0">
              <a:spcAft>
                <a:spcPts val="1000"/>
              </a:spcAft>
              <a:buNone/>
            </a:pPr>
            <a:r>
              <a:rPr lang="en-US" sz="1250" dirty="0">
                <a:solidFill>
                  <a:srgbClr val="5B6573"/>
                </a:solidFill>
                <a:latin typeface="Calibri" pitchFamily="34" charset="0"/>
                <a:ea typeface="Calibri" pitchFamily="34" charset="-122"/>
                <a:cs typeface="Calibri" pitchFamily="34" charset="-120"/>
              </a:rPr>
              <a:t>"data current to" date per branch</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Around the layers: control, operations, users, API</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Four more schemas complete the backend</a:t>
            </a:r>
            <a:endParaRPr lang="en-US" sz="1600" dirty="0"/>
          </a:p>
        </p:txBody>
      </p:sp>
      <p:sp>
        <p:nvSpPr>
          <p:cNvPr id="4" name="Shape 2"/>
          <p:cNvSpPr/>
          <p:nvPr/>
        </p:nvSpPr>
        <p:spPr>
          <a:xfrm>
            <a:off x="548640" y="1691640"/>
            <a:ext cx="5410048" cy="2148840"/>
          </a:xfrm>
          <a:prstGeom prst="roundRect">
            <a:avLst>
              <a:gd name="adj" fmla="val 3404"/>
            </a:avLst>
          </a:prstGeom>
          <a:solidFill>
            <a:srgbClr val="F3F5F8"/>
          </a:solidFill>
          <a:ln/>
        </p:spPr>
      </p:sp>
      <p:sp>
        <p:nvSpPr>
          <p:cNvPr id="5" name="Shape 3"/>
          <p:cNvSpPr/>
          <p:nvPr/>
        </p:nvSpPr>
        <p:spPr>
          <a:xfrm>
            <a:off x="749808" y="1874520"/>
            <a:ext cx="822960" cy="365760"/>
          </a:xfrm>
          <a:prstGeom prst="roundRect">
            <a:avLst>
              <a:gd name="adj" fmla="val 25000"/>
            </a:avLst>
          </a:prstGeom>
          <a:solidFill>
            <a:srgbClr val="44505E"/>
          </a:solidFill>
          <a:ln/>
        </p:spPr>
      </p:sp>
      <p:sp>
        <p:nvSpPr>
          <p:cNvPr id="6" name="Text 4"/>
          <p:cNvSpPr txBox="1"/>
          <p:nvPr/>
        </p:nvSpPr>
        <p:spPr>
          <a:xfrm>
            <a:off x="749808" y="187452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ops</a:t>
            </a:r>
            <a:endParaRPr lang="en-US" sz="1300" dirty="0"/>
          </a:p>
        </p:txBody>
      </p:sp>
      <p:sp>
        <p:nvSpPr>
          <p:cNvPr id="7" name="Text 5"/>
          <p:cNvSpPr txBox="1"/>
          <p:nvPr/>
        </p:nvSpPr>
        <p:spPr>
          <a:xfrm>
            <a:off x="1737360" y="1874520"/>
            <a:ext cx="4038448"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Control plane</a:t>
            </a:r>
            <a:endParaRPr lang="en-US" sz="1500" dirty="0"/>
          </a:p>
        </p:txBody>
      </p:sp>
      <p:sp>
        <p:nvSpPr>
          <p:cNvPr id="8" name="Text 6"/>
          <p:cNvSpPr txBox="1"/>
          <p:nvPr/>
        </p:nvSpPr>
        <p:spPr>
          <a:xfrm>
            <a:off x="749808" y="2404872"/>
            <a:ext cx="5007712" cy="1325880"/>
          </a:xfrm>
          <a:prstGeom prst="rect">
            <a:avLst/>
          </a:prstGeom>
          <a:noFill/>
          <a:ln/>
        </p:spPr>
        <p:txBody>
          <a:bodyPr wrap="square" lIns="0" tIns="0" rIns="0" bIns="0" rtlCol="0" anchor="t"/>
          <a:lstStyle/>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load_log</a:t>
            </a:r>
            <a:r>
              <a:rPr lang="en-US" sz="1250" dirty="0">
                <a:solidFill>
                  <a:srgbClr val="5B6573"/>
                </a:solidFill>
                <a:latin typeface="Calibri" pitchFamily="34" charset="0"/>
                <a:ea typeface="Calibri" pitchFamily="34" charset="-122"/>
                <a:cs typeface="Calibri" pitchFamily="34" charset="-120"/>
              </a:rPr>
              <a:t>: every file with fingerprint, row counts, dates and status; also the job queue</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load_rejects</a:t>
            </a:r>
            <a:r>
              <a:rPr lang="en-US" sz="1250" dirty="0">
                <a:solidFill>
                  <a:srgbClr val="5B6573"/>
                </a:solidFill>
                <a:latin typeface="Calibri" pitchFamily="34" charset="0"/>
                <a:ea typeface="Calibri" pitchFamily="34" charset="-122"/>
                <a:cs typeface="Calibri" pitchFamily="34" charset="-120"/>
              </a:rPr>
              <a:t>: each bad row with a reason code</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etl_runs</a:t>
            </a:r>
            <a:r>
              <a:rPr lang="en-US" sz="1250" dirty="0">
                <a:solidFill>
                  <a:srgbClr val="5B6573"/>
                </a:solidFill>
                <a:latin typeface="Calibri" pitchFamily="34" charset="0"/>
                <a:ea typeface="Calibri" pitchFamily="34" charset="-122"/>
                <a:cs typeface="Calibri" pitchFamily="34" charset="-120"/>
              </a:rPr>
              <a:t>: every worker run and its counts</a:t>
            </a:r>
            <a:endParaRPr lang="en-US" sz="1250" dirty="0"/>
          </a:p>
        </p:txBody>
      </p:sp>
      <p:sp>
        <p:nvSpPr>
          <p:cNvPr id="9" name="Shape 7"/>
          <p:cNvSpPr/>
          <p:nvPr/>
        </p:nvSpPr>
        <p:spPr>
          <a:xfrm>
            <a:off x="6233008" y="1691640"/>
            <a:ext cx="5410048" cy="2148840"/>
          </a:xfrm>
          <a:prstGeom prst="roundRect">
            <a:avLst>
              <a:gd name="adj" fmla="val 3404"/>
            </a:avLst>
          </a:prstGeom>
          <a:solidFill>
            <a:srgbClr val="F3F5F8"/>
          </a:solidFill>
          <a:ln/>
        </p:spPr>
      </p:sp>
      <p:sp>
        <p:nvSpPr>
          <p:cNvPr id="10" name="Shape 8"/>
          <p:cNvSpPr/>
          <p:nvPr/>
        </p:nvSpPr>
        <p:spPr>
          <a:xfrm>
            <a:off x="6434176" y="1874520"/>
            <a:ext cx="822960" cy="365760"/>
          </a:xfrm>
          <a:prstGeom prst="roundRect">
            <a:avLst>
              <a:gd name="adj" fmla="val 25000"/>
            </a:avLst>
          </a:prstGeom>
          <a:solidFill>
            <a:srgbClr val="5B4B99"/>
          </a:solidFill>
          <a:ln/>
        </p:spPr>
      </p:sp>
      <p:sp>
        <p:nvSpPr>
          <p:cNvPr id="11" name="Text 9"/>
          <p:cNvSpPr txBox="1"/>
          <p:nvPr/>
        </p:nvSpPr>
        <p:spPr>
          <a:xfrm>
            <a:off x="6434176" y="187452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crm</a:t>
            </a:r>
            <a:endParaRPr lang="en-US" sz="1300" dirty="0"/>
          </a:p>
        </p:txBody>
      </p:sp>
      <p:sp>
        <p:nvSpPr>
          <p:cNvPr id="12" name="Text 10"/>
          <p:cNvSpPr txBox="1"/>
          <p:nvPr/>
        </p:nvSpPr>
        <p:spPr>
          <a:xfrm>
            <a:off x="7421728" y="1874520"/>
            <a:ext cx="4038448"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Operational writes</a:t>
            </a:r>
            <a:endParaRPr lang="en-US" sz="1500" dirty="0"/>
          </a:p>
        </p:txBody>
      </p:sp>
      <p:sp>
        <p:nvSpPr>
          <p:cNvPr id="13" name="Text 11"/>
          <p:cNvSpPr txBox="1"/>
          <p:nvPr/>
        </p:nvSpPr>
        <p:spPr>
          <a:xfrm>
            <a:off x="6434176" y="2404872"/>
            <a:ext cx="5007712" cy="1325880"/>
          </a:xfrm>
          <a:prstGeom prst="rect">
            <a:avLst/>
          </a:prstGeom>
          <a:noFill/>
          <a:ln/>
        </p:spPr>
        <p:txBody>
          <a:bodyPr wrap="square" lIns="0" tIns="0" rIns="0" bIns="0" rtlCol="0" anchor="t"/>
          <a:lstStyle/>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consent</a:t>
            </a:r>
            <a:r>
              <a:rPr lang="en-US" sz="1250" dirty="0">
                <a:solidFill>
                  <a:srgbClr val="5B6573"/>
                </a:solidFill>
                <a:latin typeface="Calibri" pitchFamily="34" charset="0"/>
                <a:ea typeface="Calibri" pitchFamily="34" charset="-122"/>
                <a:cs typeface="Calibri" pitchFamily="34" charset="-120"/>
              </a:rPr>
              <a:t>: append-only; an opt-out sticks until the trader opts back in</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queue_exposures</a:t>
            </a:r>
            <a:r>
              <a:rPr lang="en-US" sz="1250" dirty="0">
                <a:solidFill>
                  <a:srgbClr val="5B6573"/>
                </a:solidFill>
                <a:latin typeface="Calibri" pitchFamily="34" charset="0"/>
                <a:ea typeface="Calibri" pitchFamily="34" charset="-122"/>
                <a:cs typeface="Calibri" pitchFamily="34" charset="-120"/>
              </a:rPr>
              <a:t> and a permanent 20% holdout</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orders</a:t>
            </a:r>
            <a:r>
              <a:rPr lang="en-US" sz="1250" dirty="0">
                <a:solidFill>
                  <a:srgbClr val="5B6573"/>
                </a:solidFill>
                <a:latin typeface="Calibri" pitchFamily="34" charset="0"/>
                <a:ea typeface="Calibri" pitchFamily="34" charset="-122"/>
                <a:cs typeface="Calibri" pitchFamily="34" charset="-120"/>
              </a:rPr>
              <a:t>: requested → confirmed → fulfilled or cancelled</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contacts, notes, playbooks, templates, conversations, messages</a:t>
            </a:r>
            <a:endParaRPr lang="en-US" sz="1250" dirty="0"/>
          </a:p>
        </p:txBody>
      </p:sp>
      <p:sp>
        <p:nvSpPr>
          <p:cNvPr id="14" name="Shape 12"/>
          <p:cNvSpPr/>
          <p:nvPr/>
        </p:nvSpPr>
        <p:spPr>
          <a:xfrm>
            <a:off x="548640" y="4114800"/>
            <a:ext cx="5410048" cy="2148840"/>
          </a:xfrm>
          <a:prstGeom prst="roundRect">
            <a:avLst>
              <a:gd name="adj" fmla="val 3404"/>
            </a:avLst>
          </a:prstGeom>
          <a:solidFill>
            <a:srgbClr val="F3F5F8"/>
          </a:solidFill>
          <a:ln/>
        </p:spPr>
      </p:sp>
      <p:sp>
        <p:nvSpPr>
          <p:cNvPr id="15" name="Shape 13"/>
          <p:cNvSpPr/>
          <p:nvPr/>
        </p:nvSpPr>
        <p:spPr>
          <a:xfrm>
            <a:off x="749808" y="4297680"/>
            <a:ext cx="822960" cy="365760"/>
          </a:xfrm>
          <a:prstGeom prst="roundRect">
            <a:avLst>
              <a:gd name="adj" fmla="val 25000"/>
            </a:avLst>
          </a:prstGeom>
          <a:solidFill>
            <a:srgbClr val="44505E"/>
          </a:solidFill>
          <a:ln/>
        </p:spPr>
      </p:sp>
      <p:sp>
        <p:nvSpPr>
          <p:cNvPr id="16" name="Text 14"/>
          <p:cNvSpPr txBox="1"/>
          <p:nvPr/>
        </p:nvSpPr>
        <p:spPr>
          <a:xfrm>
            <a:off x="749808" y="429768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a:t>
            </a:r>
            <a:endParaRPr lang="en-US" sz="1300" dirty="0"/>
          </a:p>
        </p:txBody>
      </p:sp>
      <p:sp>
        <p:nvSpPr>
          <p:cNvPr id="17" name="Text 15"/>
          <p:cNvSpPr txBox="1"/>
          <p:nvPr/>
        </p:nvSpPr>
        <p:spPr>
          <a:xfrm>
            <a:off x="1737360" y="4297680"/>
            <a:ext cx="4038448"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Users and access</a:t>
            </a:r>
            <a:endParaRPr lang="en-US" sz="1500" dirty="0"/>
          </a:p>
        </p:txBody>
      </p:sp>
      <p:sp>
        <p:nvSpPr>
          <p:cNvPr id="18" name="Text 16"/>
          <p:cNvSpPr txBox="1"/>
          <p:nvPr/>
        </p:nvSpPr>
        <p:spPr>
          <a:xfrm>
            <a:off x="749808" y="4828032"/>
            <a:ext cx="5007712" cy="1325880"/>
          </a:xfrm>
          <a:prstGeom prst="rect">
            <a:avLst/>
          </a:prstGeom>
          <a:noFill/>
          <a:ln/>
        </p:spPr>
        <p:txBody>
          <a:bodyPr wrap="square" lIns="0" tIns="0" rIns="0" bIns="0" rtlCol="0" anchor="t"/>
          <a:lstStyle/>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user_profiles</a:t>
            </a:r>
            <a:r>
              <a:rPr lang="en-US" sz="1250" dirty="0">
                <a:solidFill>
                  <a:srgbClr val="5B6573"/>
                </a:solidFill>
                <a:latin typeface="Calibri" pitchFamily="34" charset="0"/>
                <a:ea typeface="Calibri" pitchFamily="34" charset="-122"/>
                <a:cs typeface="Calibri" pitchFamily="34" charset="-120"/>
              </a:rPr>
              <a:t>: role rmg_admin, hq or branch_manager</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user_branches</a:t>
            </a:r>
            <a:r>
              <a:rPr lang="en-US" sz="1250" dirty="0">
                <a:solidFill>
                  <a:srgbClr val="5B6573"/>
                </a:solidFill>
                <a:latin typeface="Calibri" pitchFamily="34" charset="0"/>
                <a:ea typeface="Calibri" pitchFamily="34" charset="-122"/>
                <a:cs typeface="Calibri" pitchFamily="34" charset="-120"/>
              </a:rPr>
              <a:t>: the shops a manager may see</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grant_access()</a:t>
            </a:r>
            <a:r>
              <a:rPr lang="en-US" sz="1250" dirty="0">
                <a:solidFill>
                  <a:srgbClr val="5B6573"/>
                </a:solidFill>
                <a:latin typeface="Calibri" pitchFamily="34" charset="0"/>
                <a:ea typeface="Calibri" pitchFamily="34" charset="-122"/>
                <a:cs typeface="Calibri" pitchFamily="34" charset="-120"/>
              </a:rPr>
              <a:t> and revoke_access() for admins</a:t>
            </a:r>
            <a:endParaRPr lang="en-US" sz="1250" dirty="0"/>
          </a:p>
        </p:txBody>
      </p:sp>
      <p:sp>
        <p:nvSpPr>
          <p:cNvPr id="19" name="Shape 17"/>
          <p:cNvSpPr/>
          <p:nvPr/>
        </p:nvSpPr>
        <p:spPr>
          <a:xfrm>
            <a:off x="6233008" y="4114800"/>
            <a:ext cx="5410048" cy="2148840"/>
          </a:xfrm>
          <a:prstGeom prst="roundRect">
            <a:avLst>
              <a:gd name="adj" fmla="val 3404"/>
            </a:avLst>
          </a:prstGeom>
          <a:solidFill>
            <a:srgbClr val="F3F5F8"/>
          </a:solidFill>
          <a:ln/>
        </p:spPr>
      </p:sp>
      <p:sp>
        <p:nvSpPr>
          <p:cNvPr id="20" name="Shape 18"/>
          <p:cNvSpPr/>
          <p:nvPr/>
        </p:nvSpPr>
        <p:spPr>
          <a:xfrm>
            <a:off x="6434176" y="4297680"/>
            <a:ext cx="822960" cy="365760"/>
          </a:xfrm>
          <a:prstGeom prst="roundRect">
            <a:avLst>
              <a:gd name="adj" fmla="val 25000"/>
            </a:avLst>
          </a:prstGeom>
          <a:solidFill>
            <a:srgbClr val="1F7A5C"/>
          </a:solidFill>
          <a:ln/>
        </p:spPr>
      </p:sp>
      <p:sp>
        <p:nvSpPr>
          <p:cNvPr id="21" name="Text 19"/>
          <p:cNvSpPr txBox="1"/>
          <p:nvPr/>
        </p:nvSpPr>
        <p:spPr>
          <a:xfrm>
            <a:off x="6434176" y="429768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api</a:t>
            </a:r>
            <a:endParaRPr lang="en-US" sz="1300" dirty="0"/>
          </a:p>
        </p:txBody>
      </p:sp>
      <p:sp>
        <p:nvSpPr>
          <p:cNvPr id="22" name="Text 20"/>
          <p:cNvSpPr txBox="1"/>
          <p:nvPr/>
        </p:nvSpPr>
        <p:spPr>
          <a:xfrm>
            <a:off x="7421728" y="4297680"/>
            <a:ext cx="4038448"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The web app's only read surface</a:t>
            </a:r>
            <a:endParaRPr lang="en-US" sz="1500" dirty="0"/>
          </a:p>
        </p:txBody>
      </p:sp>
      <p:sp>
        <p:nvSpPr>
          <p:cNvPr id="23" name="Text 21"/>
          <p:cNvSpPr txBox="1"/>
          <p:nvPr/>
        </p:nvSpPr>
        <p:spPr>
          <a:xfrm>
            <a:off x="6434176" y="4828032"/>
            <a:ext cx="5007712" cy="1325880"/>
          </a:xfrm>
          <a:prstGeom prst="rect">
            <a:avLst/>
          </a:prstGeom>
          <a:noFill/>
          <a:ln/>
        </p:spPr>
        <p:txBody>
          <a:bodyPr wrap="square" lIns="0" tIns="0" rIns="0" bIns="0" rtlCol="0" anchor="t"/>
          <a:lstStyle/>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Views</a:t>
            </a:r>
            <a:r>
              <a:rPr lang="en-US" sz="1250" dirty="0">
                <a:solidFill>
                  <a:srgbClr val="5B6573"/>
                </a:solidFill>
                <a:latin typeface="Calibri" pitchFamily="34" charset="0"/>
                <a:ea typeface="Calibri" pitchFamily="34" charset="-122"/>
                <a:cs typeface="Calibri" pitchFamily="34" charset="-120"/>
              </a:rPr>
              <a:t>: branches, traders, action_queue, bot_orders, handover_inbox</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upload_history()</a:t>
            </a:r>
            <a:r>
              <a:rPr lang="en-US" sz="1250" dirty="0">
                <a:solidFill>
                  <a:srgbClr val="5B6573"/>
                </a:solidFill>
                <a:latin typeface="Calibri" pitchFamily="34" charset="0"/>
                <a:ea typeface="Calibri" pitchFamily="34" charset="-122"/>
                <a:cs typeface="Calibri" pitchFamily="34" charset="-120"/>
              </a:rPr>
              <a:t>: reads ops safely for the upload screen</a:t>
            </a:r>
            <a:endParaRPr lang="en-US" sz="1250" dirty="0"/>
          </a:p>
          <a:p>
            <a:pPr marL="152400" indent="-152400">
              <a:spcAft>
                <a:spcPts val="500"/>
              </a:spcAft>
              <a:buSzPct val="100000"/>
              <a:buChar char="•"/>
            </a:pPr>
            <a:r>
              <a:rPr lang="en-US" sz="1250" b="1" dirty="0">
                <a:solidFill>
                  <a:srgbClr val="1B2430"/>
                </a:solidFill>
                <a:latin typeface="Calibri" pitchFamily="34" charset="0"/>
                <a:ea typeface="Calibri" pitchFamily="34" charset="-122"/>
                <a:cs typeface="Calibri" pitchFamily="34" charset="-120"/>
              </a:rPr>
              <a:t>Runs as the caller</a:t>
            </a:r>
            <a:r>
              <a:rPr lang="en-US" sz="1250" dirty="0">
                <a:solidFill>
                  <a:srgbClr val="5B6573"/>
                </a:solidFill>
                <a:latin typeface="Calibri" pitchFamily="34" charset="0"/>
                <a:ea typeface="Calibri" pitchFamily="34" charset="-122"/>
                <a:cs typeface="Calibri" pitchFamily="34" charset="-120"/>
              </a:rPr>
              <a:t>, so row-level security still applies</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Pipeline, part 1: from file to gold</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What happens to one CSV file, step by step</a:t>
            </a:r>
            <a:endParaRPr lang="en-US" sz="1600" dirty="0"/>
          </a:p>
        </p:txBody>
      </p:sp>
      <p:sp>
        <p:nvSpPr>
          <p:cNvPr id="4" name="Shape 2"/>
          <p:cNvSpPr/>
          <p:nvPr/>
        </p:nvSpPr>
        <p:spPr>
          <a:xfrm>
            <a:off x="548640" y="1737360"/>
            <a:ext cx="2533574" cy="3703320"/>
          </a:xfrm>
          <a:prstGeom prst="roundRect">
            <a:avLst>
              <a:gd name="adj" fmla="val 2887"/>
            </a:avLst>
          </a:prstGeom>
          <a:solidFill>
            <a:srgbClr val="F3F5F8"/>
          </a:solidFill>
          <a:ln/>
        </p:spPr>
      </p:sp>
      <p:sp>
        <p:nvSpPr>
          <p:cNvPr id="5" name="Shape 3"/>
          <p:cNvSpPr/>
          <p:nvPr/>
        </p:nvSpPr>
        <p:spPr>
          <a:xfrm>
            <a:off x="749808" y="1938528"/>
            <a:ext cx="566928" cy="566928"/>
          </a:xfrm>
          <a:prstGeom prst="ellipse">
            <a:avLst/>
          </a:prstGeom>
          <a:solidFill>
            <a:srgbClr val="A0612B"/>
          </a:solidFill>
          <a:ln/>
        </p:spPr>
      </p:sp>
      <p:sp>
        <p:nvSpPr>
          <p:cNvPr id="6" name="Text 4"/>
          <p:cNvSpPr txBox="1"/>
          <p:nvPr/>
        </p:nvSpPr>
        <p:spPr>
          <a:xfrm>
            <a:off x="749808" y="19385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463040" y="1920240"/>
            <a:ext cx="1482014" cy="365760"/>
          </a:xfrm>
          <a:prstGeom prst="rect">
            <a:avLst/>
          </a:prstGeom>
          <a:noFill/>
          <a:ln/>
        </p:spPr>
        <p:txBody>
          <a:bodyPr wrap="square" lIns="0" tIns="0" rIns="0" bIns="0" rtlCol="0" anchor="t"/>
          <a:lstStyle/>
          <a:p>
            <a:pPr indent="0" marL="0">
              <a:buNone/>
            </a:pPr>
            <a:r>
              <a:rPr lang="en-US" sz="1900" b="1" dirty="0">
                <a:solidFill>
                  <a:srgbClr val="1B2430"/>
                </a:solidFill>
                <a:latin typeface="Calibri" pitchFamily="34" charset="0"/>
                <a:ea typeface="Calibri" pitchFamily="34" charset="-122"/>
                <a:cs typeface="Calibri" pitchFamily="34" charset="-120"/>
              </a:rPr>
              <a:t>Land</a:t>
            </a:r>
            <a:endParaRPr lang="en-US" sz="1900" dirty="0"/>
          </a:p>
        </p:txBody>
      </p:sp>
      <p:sp>
        <p:nvSpPr>
          <p:cNvPr id="8" name="Text 6"/>
          <p:cNvSpPr txBox="1"/>
          <p:nvPr/>
        </p:nvSpPr>
        <p:spPr>
          <a:xfrm>
            <a:off x="1463040" y="2286000"/>
            <a:ext cx="1482014" cy="274320"/>
          </a:xfrm>
          <a:prstGeom prst="rect">
            <a:avLst/>
          </a:prstGeom>
          <a:noFill/>
          <a:ln/>
        </p:spPr>
        <p:txBody>
          <a:bodyPr wrap="square" lIns="0" tIns="0" rIns="0" bIns="0" rtlCol="0" anchor="t"/>
          <a:lstStyle/>
          <a:p>
            <a:pPr indent="0" marL="0">
              <a:buNone/>
            </a:pPr>
            <a:r>
              <a:rPr lang="en-US" sz="1200" b="1" dirty="0">
                <a:solidFill>
                  <a:srgbClr val="A0612B"/>
                </a:solidFill>
                <a:latin typeface="Calibri" pitchFamily="34" charset="0"/>
                <a:ea typeface="Calibri" pitchFamily="34" charset="-122"/>
                <a:cs typeface="Calibri" pitchFamily="34" charset="-120"/>
              </a:rPr>
              <a:t>file → bronze</a:t>
            </a:r>
            <a:endParaRPr lang="en-US" sz="1200" dirty="0"/>
          </a:p>
        </p:txBody>
      </p:sp>
      <p:sp>
        <p:nvSpPr>
          <p:cNvPr id="9" name="Text 7"/>
          <p:cNvSpPr txBox="1"/>
          <p:nvPr/>
        </p:nvSpPr>
        <p:spPr>
          <a:xfrm>
            <a:off x="749808" y="2761488"/>
            <a:ext cx="2186102" cy="2587752"/>
          </a:xfrm>
          <a:prstGeom prst="rect">
            <a:avLst/>
          </a:prstGeom>
          <a:noFill/>
          <a:ln/>
        </p:spPr>
        <p:txBody>
          <a:bodyPr wrap="square" lIns="0" tIns="0" rIns="0" bIns="0" rtlCol="0" anchor="t"/>
          <a:lstStyle/>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SHA-256 fingerprint: a file never loads twice</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Original saved to Storage</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Headers checked against the data contract</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Rows copied into bronze as text; status loaded or rejected</a:t>
            </a:r>
            <a:endParaRPr lang="en-US" sz="1400" dirty="0"/>
          </a:p>
        </p:txBody>
      </p:sp>
      <p:sp>
        <p:nvSpPr>
          <p:cNvPr id="10" name="Shape 8"/>
          <p:cNvSpPr/>
          <p:nvPr/>
        </p:nvSpPr>
        <p:spPr>
          <a:xfrm>
            <a:off x="3127934" y="2221992"/>
            <a:ext cx="228600" cy="0"/>
          </a:xfrm>
          <a:prstGeom prst="line">
            <a:avLst/>
          </a:prstGeom>
          <a:noFill/>
          <a:ln w="22225">
            <a:solidFill>
              <a:srgbClr val="5B6573"/>
            </a:solidFill>
            <a:prstDash val="solid"/>
            <a:tailEnd type="triangle"/>
          </a:ln>
        </p:spPr>
      </p:sp>
      <p:sp>
        <p:nvSpPr>
          <p:cNvPr id="11" name="Shape 9"/>
          <p:cNvSpPr/>
          <p:nvPr/>
        </p:nvSpPr>
        <p:spPr>
          <a:xfrm>
            <a:off x="3402254" y="1737360"/>
            <a:ext cx="2533574" cy="3703320"/>
          </a:xfrm>
          <a:prstGeom prst="roundRect">
            <a:avLst>
              <a:gd name="adj" fmla="val 2887"/>
            </a:avLst>
          </a:prstGeom>
          <a:solidFill>
            <a:srgbClr val="F3F5F8"/>
          </a:solidFill>
          <a:ln/>
        </p:spPr>
      </p:sp>
      <p:sp>
        <p:nvSpPr>
          <p:cNvPr id="12" name="Shape 10"/>
          <p:cNvSpPr/>
          <p:nvPr/>
        </p:nvSpPr>
        <p:spPr>
          <a:xfrm>
            <a:off x="3603422" y="1938528"/>
            <a:ext cx="566928" cy="566928"/>
          </a:xfrm>
          <a:prstGeom prst="ellipse">
            <a:avLst/>
          </a:prstGeom>
          <a:solidFill>
            <a:srgbClr val="44505E"/>
          </a:solidFill>
          <a:ln/>
        </p:spPr>
      </p:sp>
      <p:sp>
        <p:nvSpPr>
          <p:cNvPr id="13" name="Text 11"/>
          <p:cNvSpPr txBox="1"/>
          <p:nvPr/>
        </p:nvSpPr>
        <p:spPr>
          <a:xfrm>
            <a:off x="3603422" y="19385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txBox="1"/>
          <p:nvPr/>
        </p:nvSpPr>
        <p:spPr>
          <a:xfrm>
            <a:off x="4316654" y="1920240"/>
            <a:ext cx="1482014" cy="365760"/>
          </a:xfrm>
          <a:prstGeom prst="rect">
            <a:avLst/>
          </a:prstGeom>
          <a:noFill/>
          <a:ln/>
        </p:spPr>
        <p:txBody>
          <a:bodyPr wrap="square" lIns="0" tIns="0" rIns="0" bIns="0" rtlCol="0" anchor="t"/>
          <a:lstStyle/>
          <a:p>
            <a:pPr indent="0" marL="0">
              <a:buNone/>
            </a:pPr>
            <a:r>
              <a:rPr lang="en-US" sz="1900" b="1" dirty="0">
                <a:solidFill>
                  <a:srgbClr val="1B2430"/>
                </a:solidFill>
                <a:latin typeface="Calibri" pitchFamily="34" charset="0"/>
                <a:ea typeface="Calibri" pitchFamily="34" charset="-122"/>
                <a:cs typeface="Calibri" pitchFamily="34" charset="-120"/>
              </a:rPr>
              <a:t>Queue</a:t>
            </a:r>
            <a:endParaRPr lang="en-US" sz="1900" dirty="0"/>
          </a:p>
        </p:txBody>
      </p:sp>
      <p:sp>
        <p:nvSpPr>
          <p:cNvPr id="15" name="Text 13"/>
          <p:cNvSpPr txBox="1"/>
          <p:nvPr/>
        </p:nvSpPr>
        <p:spPr>
          <a:xfrm>
            <a:off x="4316654" y="2286000"/>
            <a:ext cx="1482014" cy="274320"/>
          </a:xfrm>
          <a:prstGeom prst="rect">
            <a:avLst/>
          </a:prstGeom>
          <a:noFill/>
          <a:ln/>
        </p:spPr>
        <p:txBody>
          <a:bodyPr wrap="square" lIns="0" tIns="0" rIns="0" bIns="0" rtlCol="0" anchor="t"/>
          <a:lstStyle/>
          <a:p>
            <a:pPr indent="0" marL="0">
              <a:buNone/>
            </a:pPr>
            <a:r>
              <a:rPr lang="en-US" sz="1200" b="1" dirty="0">
                <a:solidFill>
                  <a:srgbClr val="44505E"/>
                </a:solidFill>
                <a:latin typeface="Calibri" pitchFamily="34" charset="0"/>
                <a:ea typeface="Calibri" pitchFamily="34" charset="-122"/>
                <a:cs typeface="Calibri" pitchFamily="34" charset="-120"/>
              </a:rPr>
              <a:t>ops.load_log</a:t>
            </a:r>
            <a:endParaRPr lang="en-US" sz="1200" dirty="0"/>
          </a:p>
        </p:txBody>
      </p:sp>
      <p:sp>
        <p:nvSpPr>
          <p:cNvPr id="16" name="Text 14"/>
          <p:cNvSpPr txBox="1"/>
          <p:nvPr/>
        </p:nvSpPr>
        <p:spPr>
          <a:xfrm>
            <a:off x="3603422" y="2761488"/>
            <a:ext cx="2186102" cy="2587752"/>
          </a:xfrm>
          <a:prstGeom prst="rect">
            <a:avLst/>
          </a:prstGeom>
          <a:noFill/>
          <a:ln/>
        </p:spPr>
        <p:txBody>
          <a:bodyPr wrap="square" lIns="0" tIns="0" rIns="0" bIns="0" rtlCol="0" anchor="t"/>
          <a:lstStyle/>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A loaded file is a job</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Claimed with FOR UPDATE SKIP LOCKED</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Two runners never take the same file</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Up to 20 files per run</a:t>
            </a:r>
            <a:endParaRPr lang="en-US" sz="1400" dirty="0"/>
          </a:p>
        </p:txBody>
      </p:sp>
      <p:sp>
        <p:nvSpPr>
          <p:cNvPr id="17" name="Shape 15"/>
          <p:cNvSpPr/>
          <p:nvPr/>
        </p:nvSpPr>
        <p:spPr>
          <a:xfrm>
            <a:off x="5981548" y="2221992"/>
            <a:ext cx="228600" cy="0"/>
          </a:xfrm>
          <a:prstGeom prst="line">
            <a:avLst/>
          </a:prstGeom>
          <a:noFill/>
          <a:ln w="22225">
            <a:solidFill>
              <a:srgbClr val="5B6573"/>
            </a:solidFill>
            <a:prstDash val="solid"/>
            <a:tailEnd type="triangle"/>
          </a:ln>
        </p:spPr>
      </p:sp>
      <p:sp>
        <p:nvSpPr>
          <p:cNvPr id="18" name="Shape 16"/>
          <p:cNvSpPr/>
          <p:nvPr/>
        </p:nvSpPr>
        <p:spPr>
          <a:xfrm>
            <a:off x="6255868" y="1737360"/>
            <a:ext cx="2533574" cy="3703320"/>
          </a:xfrm>
          <a:prstGeom prst="roundRect">
            <a:avLst>
              <a:gd name="adj" fmla="val 2887"/>
            </a:avLst>
          </a:prstGeom>
          <a:solidFill>
            <a:srgbClr val="F3F5F8"/>
          </a:solidFill>
          <a:ln/>
        </p:spPr>
      </p:sp>
      <p:sp>
        <p:nvSpPr>
          <p:cNvPr id="19" name="Shape 17"/>
          <p:cNvSpPr/>
          <p:nvPr/>
        </p:nvSpPr>
        <p:spPr>
          <a:xfrm>
            <a:off x="6457036" y="1938528"/>
            <a:ext cx="566928" cy="566928"/>
          </a:xfrm>
          <a:prstGeom prst="ellipse">
            <a:avLst/>
          </a:prstGeom>
          <a:solidFill>
            <a:srgbClr val="6E7781"/>
          </a:solidFill>
          <a:ln/>
        </p:spPr>
      </p:sp>
      <p:sp>
        <p:nvSpPr>
          <p:cNvPr id="20" name="Text 18"/>
          <p:cNvSpPr txBox="1"/>
          <p:nvPr/>
        </p:nvSpPr>
        <p:spPr>
          <a:xfrm>
            <a:off x="6457036" y="19385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txBox="1"/>
          <p:nvPr/>
        </p:nvSpPr>
        <p:spPr>
          <a:xfrm>
            <a:off x="7170268" y="1920240"/>
            <a:ext cx="1482014" cy="365760"/>
          </a:xfrm>
          <a:prstGeom prst="rect">
            <a:avLst/>
          </a:prstGeom>
          <a:noFill/>
          <a:ln/>
        </p:spPr>
        <p:txBody>
          <a:bodyPr wrap="square" lIns="0" tIns="0" rIns="0" bIns="0" rtlCol="0" anchor="t"/>
          <a:lstStyle/>
          <a:p>
            <a:pPr indent="0" marL="0">
              <a:buNone/>
            </a:pPr>
            <a:r>
              <a:rPr lang="en-US" sz="1900" b="1" dirty="0">
                <a:solidFill>
                  <a:srgbClr val="1B2430"/>
                </a:solidFill>
                <a:latin typeface="Calibri" pitchFamily="34" charset="0"/>
                <a:ea typeface="Calibri" pitchFamily="34" charset="-122"/>
                <a:cs typeface="Calibri" pitchFamily="34" charset="-120"/>
              </a:rPr>
              <a:t>Cleanse</a:t>
            </a:r>
            <a:endParaRPr lang="en-US" sz="1900" dirty="0"/>
          </a:p>
        </p:txBody>
      </p:sp>
      <p:sp>
        <p:nvSpPr>
          <p:cNvPr id="22" name="Text 20"/>
          <p:cNvSpPr txBox="1"/>
          <p:nvPr/>
        </p:nvSpPr>
        <p:spPr>
          <a:xfrm>
            <a:off x="7170268" y="2286000"/>
            <a:ext cx="1482014" cy="274320"/>
          </a:xfrm>
          <a:prstGeom prst="rect">
            <a:avLst/>
          </a:prstGeom>
          <a:noFill/>
          <a:ln/>
        </p:spPr>
        <p:txBody>
          <a:bodyPr wrap="square" lIns="0" tIns="0" rIns="0" bIns="0" rtlCol="0" anchor="t"/>
          <a:lstStyle/>
          <a:p>
            <a:pPr indent="0" marL="0">
              <a:buNone/>
            </a:pPr>
            <a:r>
              <a:rPr lang="en-US" sz="1200" b="1" dirty="0">
                <a:solidFill>
                  <a:srgbClr val="6E7781"/>
                </a:solidFill>
                <a:latin typeface="Calibri" pitchFamily="34" charset="0"/>
                <a:ea typeface="Calibri" pitchFamily="34" charset="-122"/>
                <a:cs typeface="Calibri" pitchFamily="34" charset="-120"/>
              </a:rPr>
              <a:t>bronze → silver</a:t>
            </a:r>
            <a:endParaRPr lang="en-US" sz="1200" dirty="0"/>
          </a:p>
        </p:txBody>
      </p:sp>
      <p:sp>
        <p:nvSpPr>
          <p:cNvPr id="23" name="Text 21"/>
          <p:cNvSpPr txBox="1"/>
          <p:nvPr/>
        </p:nvSpPr>
        <p:spPr>
          <a:xfrm>
            <a:off x="6457036" y="2761488"/>
            <a:ext cx="2186102" cy="2587752"/>
          </a:xfrm>
          <a:prstGeom prst="rect">
            <a:avLst/>
          </a:prstGeom>
          <a:noFill/>
          <a:ln/>
        </p:spPr>
        <p:txBody>
          <a:bodyPr wrap="square" lIns="0" tIns="0" rIns="0" bIns="0" rtlCol="0" anchor="t"/>
          <a:lstStyle/>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Dates in Harare time, amounts, USD or ZiG</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Phones → +2637…; product names mapped</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Duplicate lines removed</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Bad rows go to load_rejects with a reason</a:t>
            </a:r>
            <a:endParaRPr lang="en-US" sz="1400" dirty="0"/>
          </a:p>
        </p:txBody>
      </p:sp>
      <p:sp>
        <p:nvSpPr>
          <p:cNvPr id="24" name="Shape 22"/>
          <p:cNvSpPr/>
          <p:nvPr/>
        </p:nvSpPr>
        <p:spPr>
          <a:xfrm>
            <a:off x="8835161" y="2221992"/>
            <a:ext cx="228600" cy="0"/>
          </a:xfrm>
          <a:prstGeom prst="line">
            <a:avLst/>
          </a:prstGeom>
          <a:noFill/>
          <a:ln w="22225">
            <a:solidFill>
              <a:srgbClr val="5B6573"/>
            </a:solidFill>
            <a:prstDash val="solid"/>
            <a:tailEnd type="triangle"/>
          </a:ln>
        </p:spPr>
      </p:sp>
      <p:sp>
        <p:nvSpPr>
          <p:cNvPr id="25" name="Shape 23"/>
          <p:cNvSpPr/>
          <p:nvPr/>
        </p:nvSpPr>
        <p:spPr>
          <a:xfrm>
            <a:off x="9109481" y="1737360"/>
            <a:ext cx="2533574" cy="3703320"/>
          </a:xfrm>
          <a:prstGeom prst="roundRect">
            <a:avLst>
              <a:gd name="adj" fmla="val 2887"/>
            </a:avLst>
          </a:prstGeom>
          <a:solidFill>
            <a:srgbClr val="F3F5F8"/>
          </a:solidFill>
          <a:ln/>
        </p:spPr>
      </p:sp>
      <p:sp>
        <p:nvSpPr>
          <p:cNvPr id="26" name="Shape 24"/>
          <p:cNvSpPr/>
          <p:nvPr/>
        </p:nvSpPr>
        <p:spPr>
          <a:xfrm>
            <a:off x="9310649" y="1938528"/>
            <a:ext cx="566928" cy="566928"/>
          </a:xfrm>
          <a:prstGeom prst="ellipse">
            <a:avLst/>
          </a:prstGeom>
          <a:solidFill>
            <a:srgbClr val="B8860B"/>
          </a:solidFill>
          <a:ln/>
        </p:spPr>
      </p:sp>
      <p:sp>
        <p:nvSpPr>
          <p:cNvPr id="27" name="Text 25"/>
          <p:cNvSpPr txBox="1"/>
          <p:nvPr/>
        </p:nvSpPr>
        <p:spPr>
          <a:xfrm>
            <a:off x="9310649" y="19385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8" name="Text 26"/>
          <p:cNvSpPr txBox="1"/>
          <p:nvPr/>
        </p:nvSpPr>
        <p:spPr>
          <a:xfrm>
            <a:off x="10023881" y="1920240"/>
            <a:ext cx="1482014" cy="365760"/>
          </a:xfrm>
          <a:prstGeom prst="rect">
            <a:avLst/>
          </a:prstGeom>
          <a:noFill/>
          <a:ln/>
        </p:spPr>
        <p:txBody>
          <a:bodyPr wrap="square" lIns="0" tIns="0" rIns="0" bIns="0" rtlCol="0" anchor="t"/>
          <a:lstStyle/>
          <a:p>
            <a:pPr indent="0" marL="0">
              <a:buNone/>
            </a:pPr>
            <a:r>
              <a:rPr lang="en-US" sz="1900" b="1" dirty="0">
                <a:solidFill>
                  <a:srgbClr val="1B2430"/>
                </a:solidFill>
                <a:latin typeface="Calibri" pitchFamily="34" charset="0"/>
                <a:ea typeface="Calibri" pitchFamily="34" charset="-122"/>
                <a:cs typeface="Calibri" pitchFamily="34" charset="-120"/>
              </a:rPr>
              <a:t>Publish</a:t>
            </a:r>
            <a:endParaRPr lang="en-US" sz="1900" dirty="0"/>
          </a:p>
        </p:txBody>
      </p:sp>
      <p:sp>
        <p:nvSpPr>
          <p:cNvPr id="29" name="Text 27"/>
          <p:cNvSpPr txBox="1"/>
          <p:nvPr/>
        </p:nvSpPr>
        <p:spPr>
          <a:xfrm>
            <a:off x="10023881" y="2286000"/>
            <a:ext cx="1482014" cy="274320"/>
          </a:xfrm>
          <a:prstGeom prst="rect">
            <a:avLst/>
          </a:prstGeom>
          <a:noFill/>
          <a:ln/>
        </p:spPr>
        <p:txBody>
          <a:bodyPr wrap="square" lIns="0" tIns="0" rIns="0" bIns="0" rtlCol="0" anchor="t"/>
          <a:lstStyle/>
          <a:p>
            <a:pPr indent="0" marL="0">
              <a:buNone/>
            </a:pPr>
            <a:r>
              <a:rPr lang="en-US" sz="1200" b="1" dirty="0">
                <a:solidFill>
                  <a:srgbClr val="B8860B"/>
                </a:solidFill>
                <a:latin typeface="Calibri" pitchFamily="34" charset="0"/>
                <a:ea typeface="Calibri" pitchFamily="34" charset="-122"/>
                <a:cs typeface="Calibri" pitchFamily="34" charset="-120"/>
              </a:rPr>
              <a:t>silver → gold</a:t>
            </a:r>
            <a:endParaRPr lang="en-US" sz="1200" dirty="0"/>
          </a:p>
        </p:txBody>
      </p:sp>
      <p:sp>
        <p:nvSpPr>
          <p:cNvPr id="30" name="Text 28"/>
          <p:cNvSpPr txBox="1"/>
          <p:nvPr/>
        </p:nvSpPr>
        <p:spPr>
          <a:xfrm>
            <a:off x="9310649" y="2761488"/>
            <a:ext cx="2186102" cy="2587752"/>
          </a:xfrm>
          <a:prstGeom prst="rect">
            <a:avLst/>
          </a:prstGeom>
          <a:noFill/>
          <a:ln/>
        </p:spPr>
        <p:txBody>
          <a:bodyPr wrap="square" lIns="0" tIns="0" rIns="0" bIns="0" rtlCol="0" anchor="t"/>
          <a:lstStyle/>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New traders get codes, e.g. PD-HF-000001</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Upsert dim_customer and fact_sales</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Reconcile to ProDairy totals (±0.5%)</a:t>
            </a:r>
            <a:endParaRPr lang="en-US" sz="1400" dirty="0"/>
          </a:p>
          <a:p>
            <a:pPr marL="152400" indent="-1524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Status published, or held for review</a:t>
            </a:r>
            <a:endParaRPr lang="en-US" sz="1400" dirty="0"/>
          </a:p>
        </p:txBody>
      </p:sp>
      <p:sp>
        <p:nvSpPr>
          <p:cNvPr id="31" name="Text 29"/>
          <p:cNvSpPr txBox="1"/>
          <p:nvPr/>
        </p:nvSpPr>
        <p:spPr>
          <a:xfrm>
            <a:off x="548640" y="5715000"/>
            <a:ext cx="11094415" cy="320040"/>
          </a:xfrm>
          <a:prstGeom prst="rect">
            <a:avLst/>
          </a:prstGeom>
          <a:noFill/>
          <a:ln/>
        </p:spPr>
        <p:txBody>
          <a:bodyPr wrap="square" lIns="0" tIns="0" rIns="0" bIns="0" rtlCol="0" anchor="t"/>
          <a:lstStyle/>
          <a:p>
            <a:pPr indent="0" marL="0">
              <a:buNone/>
            </a:pPr>
            <a:r>
              <a:rPr lang="en-US" sz="1300" i="1" dirty="0">
                <a:solidFill>
                  <a:srgbClr val="5B6573"/>
                </a:solidFill>
                <a:latin typeface="Calibri" pitchFamily="34" charset="0"/>
                <a:ea typeface="Calibri" pitchFamily="34" charset="-122"/>
                <a:cs typeface="Calibri" pitchFamily="34" charset="-120"/>
              </a:rPr>
              <a:t>Steps 3 and 4 run as one transaction per file, so a failure never leaves a file half-published.</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Pipeline, part 2: from gold to action</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Scores turn into calls, messages and results</a:t>
            </a:r>
            <a:endParaRPr lang="en-US" sz="1600" dirty="0"/>
          </a:p>
        </p:txBody>
      </p:sp>
      <p:sp>
        <p:nvSpPr>
          <p:cNvPr id="4" name="Shape 2"/>
          <p:cNvSpPr/>
          <p:nvPr/>
        </p:nvSpPr>
        <p:spPr>
          <a:xfrm>
            <a:off x="548640" y="1691640"/>
            <a:ext cx="11094415" cy="1005840"/>
          </a:xfrm>
          <a:prstGeom prst="roundRect">
            <a:avLst>
              <a:gd name="adj" fmla="val 7273"/>
            </a:avLst>
          </a:prstGeom>
          <a:solidFill>
            <a:srgbClr val="F3F5F8"/>
          </a:solidFill>
          <a:ln/>
        </p:spPr>
      </p:sp>
      <p:sp>
        <p:nvSpPr>
          <p:cNvPr id="5" name="Shape 3"/>
          <p:cNvSpPr/>
          <p:nvPr/>
        </p:nvSpPr>
        <p:spPr>
          <a:xfrm>
            <a:off x="777240" y="1874520"/>
            <a:ext cx="640080" cy="640080"/>
          </a:xfrm>
          <a:prstGeom prst="ellipse">
            <a:avLst/>
          </a:prstGeom>
          <a:solidFill>
            <a:srgbClr val="A23B5B"/>
          </a:solidFill>
          <a:ln/>
        </p:spPr>
      </p:sp>
      <p:pic>
        <p:nvPicPr>
          <p:cNvPr id="6" name="Image 0" descr="preencoded.png">    </p:cNvPr>
          <p:cNvPicPr>
            <a:picLocks noChangeAspect="1"/>
          </p:cNvPicPr>
          <p:nvPr/>
        </p:nvPicPr>
        <p:blipFill>
          <a:blip r:embed="rId1"/>
          <a:stretch>
            <a:fillRect/>
          </a:stretch>
        </p:blipFill>
        <p:spPr>
          <a:xfrm>
            <a:off x="930859" y="2028139"/>
            <a:ext cx="332842" cy="332842"/>
          </a:xfrm>
          <a:prstGeom prst="rect">
            <a:avLst/>
          </a:prstGeom>
        </p:spPr>
      </p:pic>
      <p:sp>
        <p:nvSpPr>
          <p:cNvPr id="7" name="Text 4"/>
          <p:cNvSpPr txBox="1"/>
          <p:nvPr/>
        </p:nvSpPr>
        <p:spPr>
          <a:xfrm>
            <a:off x="1645920" y="1874520"/>
            <a:ext cx="3017520" cy="384048"/>
          </a:xfrm>
          <a:prstGeom prst="rect">
            <a:avLst/>
          </a:prstGeom>
          <a:noFill/>
          <a:ln/>
        </p:spPr>
        <p:txBody>
          <a:bodyPr wrap="square" lIns="0" tIns="0" rIns="0" bIns="0" rtlCol="0" anchor="ctr"/>
          <a:lstStyle/>
          <a:p>
            <a:pPr indent="0" marL="0">
              <a:buNone/>
            </a:pPr>
            <a:r>
              <a:rPr lang="en-US" sz="1900" b="1" dirty="0">
                <a:solidFill>
                  <a:srgbClr val="1B2430"/>
                </a:solidFill>
                <a:latin typeface="Calibri" pitchFamily="34" charset="0"/>
                <a:ea typeface="Calibri" pitchFamily="34" charset="-122"/>
                <a:cs typeface="Calibri" pitchFamily="34" charset="-120"/>
              </a:rPr>
              <a:t>5  Score</a:t>
            </a:r>
            <a:endParaRPr lang="en-US" sz="1900" dirty="0"/>
          </a:p>
        </p:txBody>
      </p:sp>
      <p:sp>
        <p:nvSpPr>
          <p:cNvPr id="8" name="Text 5"/>
          <p:cNvSpPr txBox="1"/>
          <p:nvPr/>
        </p:nvSpPr>
        <p:spPr>
          <a:xfrm>
            <a:off x="1645920" y="2258568"/>
            <a:ext cx="3017520" cy="274320"/>
          </a:xfrm>
          <a:prstGeom prst="rect">
            <a:avLst/>
          </a:prstGeom>
          <a:noFill/>
          <a:ln/>
        </p:spPr>
        <p:txBody>
          <a:bodyPr wrap="square" lIns="0" tIns="0" rIns="0" bIns="0" rtlCol="0" anchor="t"/>
          <a:lstStyle/>
          <a:p>
            <a:pPr indent="0" marL="0">
              <a:buNone/>
            </a:pPr>
            <a:r>
              <a:rPr lang="en-US" sz="1200" b="1" dirty="0">
                <a:solidFill>
                  <a:srgbClr val="A23B5B"/>
                </a:solidFill>
                <a:latin typeface="Calibri" pitchFamily="34" charset="0"/>
                <a:ea typeface="Calibri" pitchFamily="34" charset="-122"/>
                <a:cs typeface="Calibri" pitchFamily="34" charset="-120"/>
              </a:rPr>
              <a:t>gold → scoring</a:t>
            </a:r>
            <a:endParaRPr lang="en-US" sz="1200" dirty="0"/>
          </a:p>
        </p:txBody>
      </p:sp>
      <p:sp>
        <p:nvSpPr>
          <p:cNvPr id="9" name="Text 6"/>
          <p:cNvSpPr txBox="1"/>
          <p:nvPr/>
        </p:nvSpPr>
        <p:spPr>
          <a:xfrm>
            <a:off x="4754880" y="1801368"/>
            <a:ext cx="6705295" cy="786384"/>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Per branch after each upload, all branches nightly. Recency counts from the branch's latest receipt date, not today, so a late upload never makes traders look lapsed.</a:t>
            </a:r>
            <a:endParaRPr lang="en-US" sz="1350" dirty="0"/>
          </a:p>
        </p:txBody>
      </p:sp>
      <p:sp>
        <p:nvSpPr>
          <p:cNvPr id="10" name="Shape 7"/>
          <p:cNvSpPr/>
          <p:nvPr/>
        </p:nvSpPr>
        <p:spPr>
          <a:xfrm>
            <a:off x="548640" y="2880360"/>
            <a:ext cx="11094415" cy="1005840"/>
          </a:xfrm>
          <a:prstGeom prst="roundRect">
            <a:avLst>
              <a:gd name="adj" fmla="val 7273"/>
            </a:avLst>
          </a:prstGeom>
          <a:solidFill>
            <a:srgbClr val="F3F5F8"/>
          </a:solidFill>
          <a:ln/>
        </p:spPr>
      </p:sp>
      <p:sp>
        <p:nvSpPr>
          <p:cNvPr id="11" name="Shape 8"/>
          <p:cNvSpPr/>
          <p:nvPr/>
        </p:nvSpPr>
        <p:spPr>
          <a:xfrm>
            <a:off x="777240" y="3063240"/>
            <a:ext cx="640080" cy="640080"/>
          </a:xfrm>
          <a:prstGeom prst="ellipse">
            <a:avLst/>
          </a:prstGeom>
          <a:solidFill>
            <a:srgbClr val="5B4B99"/>
          </a:solidFill>
          <a:ln/>
        </p:spPr>
      </p:sp>
      <p:pic>
        <p:nvPicPr>
          <p:cNvPr id="12" name="Image 1" descr="preencoded.png">    </p:cNvPr>
          <p:cNvPicPr>
            <a:picLocks noChangeAspect="1"/>
          </p:cNvPicPr>
          <p:nvPr/>
        </p:nvPicPr>
        <p:blipFill>
          <a:blip r:embed="rId2"/>
          <a:stretch>
            <a:fillRect/>
          </a:stretch>
        </p:blipFill>
        <p:spPr>
          <a:xfrm>
            <a:off x="930859" y="3216859"/>
            <a:ext cx="332842" cy="332842"/>
          </a:xfrm>
          <a:prstGeom prst="rect">
            <a:avLst/>
          </a:prstGeom>
        </p:spPr>
      </p:pic>
      <p:sp>
        <p:nvSpPr>
          <p:cNvPr id="13" name="Text 9"/>
          <p:cNvSpPr txBox="1"/>
          <p:nvPr/>
        </p:nvSpPr>
        <p:spPr>
          <a:xfrm>
            <a:off x="1645920" y="3063240"/>
            <a:ext cx="3017520" cy="384048"/>
          </a:xfrm>
          <a:prstGeom prst="rect">
            <a:avLst/>
          </a:prstGeom>
          <a:noFill/>
          <a:ln/>
        </p:spPr>
        <p:txBody>
          <a:bodyPr wrap="square" lIns="0" tIns="0" rIns="0" bIns="0" rtlCol="0" anchor="ctr"/>
          <a:lstStyle/>
          <a:p>
            <a:pPr indent="0" marL="0">
              <a:buNone/>
            </a:pPr>
            <a:r>
              <a:rPr lang="en-US" sz="1900" b="1" dirty="0">
                <a:solidFill>
                  <a:srgbClr val="1B2430"/>
                </a:solidFill>
                <a:latin typeface="Calibri" pitchFamily="34" charset="0"/>
                <a:ea typeface="Calibri" pitchFamily="34" charset="-122"/>
                <a:cs typeface="Calibri" pitchFamily="34" charset="-120"/>
              </a:rPr>
              <a:t>6  Activate</a:t>
            </a:r>
            <a:endParaRPr lang="en-US" sz="1900" dirty="0"/>
          </a:p>
        </p:txBody>
      </p:sp>
      <p:sp>
        <p:nvSpPr>
          <p:cNvPr id="14" name="Text 10"/>
          <p:cNvSpPr txBox="1"/>
          <p:nvPr/>
        </p:nvSpPr>
        <p:spPr>
          <a:xfrm>
            <a:off x="1645920" y="3447288"/>
            <a:ext cx="3017520" cy="274320"/>
          </a:xfrm>
          <a:prstGeom prst="rect">
            <a:avLst/>
          </a:prstGeom>
          <a:noFill/>
          <a:ln/>
        </p:spPr>
        <p:txBody>
          <a:bodyPr wrap="square" lIns="0" tIns="0" rIns="0" bIns="0" rtlCol="0" anchor="t"/>
          <a:lstStyle/>
          <a:p>
            <a:pPr indent="0" marL="0">
              <a:buNone/>
            </a:pPr>
            <a:r>
              <a:rPr lang="en-US" sz="1200" b="1" dirty="0">
                <a:solidFill>
                  <a:srgbClr val="5B4B99"/>
                </a:solidFill>
                <a:latin typeface="Calibri" pitchFamily="34" charset="0"/>
                <a:ea typeface="Calibri" pitchFamily="34" charset="-122"/>
                <a:cs typeface="Calibri" pitchFamily="34" charset="-120"/>
              </a:rPr>
              <a:t>scoring → crm</a:t>
            </a:r>
            <a:endParaRPr lang="en-US" sz="1200" dirty="0"/>
          </a:p>
        </p:txBody>
      </p:sp>
      <p:sp>
        <p:nvSpPr>
          <p:cNvPr id="15" name="Text 11"/>
          <p:cNvSpPr txBox="1"/>
          <p:nvPr/>
        </p:nvSpPr>
        <p:spPr>
          <a:xfrm>
            <a:off x="4754880" y="2990088"/>
            <a:ext cx="6705295" cy="786384"/>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Every eligible trader gets a queue exposure, the 20% holdout included (marked suppressed), so uplift is measured intent-to-treat. Consent, contact caps and opt-outs also suppress.</a:t>
            </a:r>
            <a:endParaRPr lang="en-US" sz="1350" dirty="0"/>
          </a:p>
        </p:txBody>
      </p:sp>
      <p:sp>
        <p:nvSpPr>
          <p:cNvPr id="16" name="Shape 12"/>
          <p:cNvSpPr/>
          <p:nvPr/>
        </p:nvSpPr>
        <p:spPr>
          <a:xfrm>
            <a:off x="548640" y="4069080"/>
            <a:ext cx="11094415" cy="1005840"/>
          </a:xfrm>
          <a:prstGeom prst="roundRect">
            <a:avLst>
              <a:gd name="adj" fmla="val 7273"/>
            </a:avLst>
          </a:prstGeom>
          <a:solidFill>
            <a:srgbClr val="F3F5F8"/>
          </a:solidFill>
          <a:ln/>
        </p:spPr>
      </p:sp>
      <p:sp>
        <p:nvSpPr>
          <p:cNvPr id="17" name="Shape 13"/>
          <p:cNvSpPr/>
          <p:nvPr/>
        </p:nvSpPr>
        <p:spPr>
          <a:xfrm>
            <a:off x="777240" y="4251960"/>
            <a:ext cx="640080" cy="640080"/>
          </a:xfrm>
          <a:prstGeom prst="ellipse">
            <a:avLst/>
          </a:prstGeom>
          <a:solidFill>
            <a:srgbClr val="1F7A5C"/>
          </a:solidFill>
          <a:ln/>
        </p:spPr>
      </p:sp>
      <p:pic>
        <p:nvPicPr>
          <p:cNvPr id="18" name="Image 2" descr="preencoded.png">    </p:cNvPr>
          <p:cNvPicPr>
            <a:picLocks noChangeAspect="1"/>
          </p:cNvPicPr>
          <p:nvPr/>
        </p:nvPicPr>
        <p:blipFill>
          <a:blip r:embed="rId3"/>
          <a:stretch>
            <a:fillRect/>
          </a:stretch>
        </p:blipFill>
        <p:spPr>
          <a:xfrm>
            <a:off x="930859" y="4405579"/>
            <a:ext cx="332842" cy="332842"/>
          </a:xfrm>
          <a:prstGeom prst="rect">
            <a:avLst/>
          </a:prstGeom>
        </p:spPr>
      </p:pic>
      <p:sp>
        <p:nvSpPr>
          <p:cNvPr id="19" name="Text 14"/>
          <p:cNvSpPr txBox="1"/>
          <p:nvPr/>
        </p:nvSpPr>
        <p:spPr>
          <a:xfrm>
            <a:off x="1645920" y="4251960"/>
            <a:ext cx="3017520" cy="384048"/>
          </a:xfrm>
          <a:prstGeom prst="rect">
            <a:avLst/>
          </a:prstGeom>
          <a:noFill/>
          <a:ln/>
        </p:spPr>
        <p:txBody>
          <a:bodyPr wrap="square" lIns="0" tIns="0" rIns="0" bIns="0" rtlCol="0" anchor="ctr"/>
          <a:lstStyle/>
          <a:p>
            <a:pPr indent="0" marL="0">
              <a:buNone/>
            </a:pPr>
            <a:r>
              <a:rPr lang="en-US" sz="1900" b="1" dirty="0">
                <a:solidFill>
                  <a:srgbClr val="1B2430"/>
                </a:solidFill>
                <a:latin typeface="Calibri" pitchFamily="34" charset="0"/>
                <a:ea typeface="Calibri" pitchFamily="34" charset="-122"/>
                <a:cs typeface="Calibri" pitchFamily="34" charset="-120"/>
              </a:rPr>
              <a:t>7  Serve</a:t>
            </a:r>
            <a:endParaRPr lang="en-US" sz="1900" dirty="0"/>
          </a:p>
        </p:txBody>
      </p:sp>
      <p:sp>
        <p:nvSpPr>
          <p:cNvPr id="20" name="Text 15"/>
          <p:cNvSpPr txBox="1"/>
          <p:nvPr/>
        </p:nvSpPr>
        <p:spPr>
          <a:xfrm>
            <a:off x="1645920" y="4636008"/>
            <a:ext cx="3017520" cy="274320"/>
          </a:xfrm>
          <a:prstGeom prst="rect">
            <a:avLst/>
          </a:prstGeom>
          <a:noFill/>
          <a:ln/>
        </p:spPr>
        <p:txBody>
          <a:bodyPr wrap="square" lIns="0" tIns="0" rIns="0" bIns="0" rtlCol="0" anchor="t"/>
          <a:lstStyle/>
          <a:p>
            <a:pPr indent="0" marL="0">
              <a:buNone/>
            </a:pPr>
            <a:r>
              <a:rPr lang="en-US" sz="1200" b="1" dirty="0">
                <a:solidFill>
                  <a:srgbClr val="1F7A5C"/>
                </a:solidFill>
                <a:latin typeface="Calibri" pitchFamily="34" charset="0"/>
                <a:ea typeface="Calibri" pitchFamily="34" charset="-122"/>
                <a:cs typeface="Calibri" pitchFamily="34" charset="-120"/>
              </a:rPr>
              <a:t>api → web app</a:t>
            </a:r>
            <a:endParaRPr lang="en-US" sz="1200" dirty="0"/>
          </a:p>
        </p:txBody>
      </p:sp>
      <p:sp>
        <p:nvSpPr>
          <p:cNvPr id="21" name="Text 16"/>
          <p:cNvSpPr txBox="1"/>
          <p:nvPr/>
        </p:nvSpPr>
        <p:spPr>
          <a:xfrm>
            <a:off x="4754880" y="4178808"/>
            <a:ext cx="6705295" cy="786384"/>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Users sign in with Supabase Auth. The app reads only api views, which run with the user's permissions: HQ sees every branch, a Branch Manager only their own.</a:t>
            </a:r>
            <a:endParaRPr lang="en-US" sz="1350" dirty="0"/>
          </a:p>
        </p:txBody>
      </p:sp>
      <p:sp>
        <p:nvSpPr>
          <p:cNvPr id="22" name="Shape 17"/>
          <p:cNvSpPr/>
          <p:nvPr/>
        </p:nvSpPr>
        <p:spPr>
          <a:xfrm>
            <a:off x="548640" y="5257800"/>
            <a:ext cx="11094415" cy="1005840"/>
          </a:xfrm>
          <a:prstGeom prst="roundRect">
            <a:avLst>
              <a:gd name="adj" fmla="val 7273"/>
            </a:avLst>
          </a:prstGeom>
          <a:solidFill>
            <a:srgbClr val="F3F5F8"/>
          </a:solidFill>
          <a:ln/>
        </p:spPr>
      </p:sp>
      <p:sp>
        <p:nvSpPr>
          <p:cNvPr id="23" name="Shape 18"/>
          <p:cNvSpPr/>
          <p:nvPr/>
        </p:nvSpPr>
        <p:spPr>
          <a:xfrm>
            <a:off x="777240" y="5440680"/>
            <a:ext cx="640080" cy="640080"/>
          </a:xfrm>
          <a:prstGeom prst="ellipse">
            <a:avLst/>
          </a:prstGeom>
          <a:solidFill>
            <a:srgbClr val="B8860B"/>
          </a:solidFill>
          <a:ln/>
        </p:spPr>
      </p:sp>
      <p:pic>
        <p:nvPicPr>
          <p:cNvPr id="24" name="Image 3" descr="preencoded.png">    </p:cNvPr>
          <p:cNvPicPr>
            <a:picLocks noChangeAspect="1"/>
          </p:cNvPicPr>
          <p:nvPr/>
        </p:nvPicPr>
        <p:blipFill>
          <a:blip r:embed="rId4"/>
          <a:stretch>
            <a:fillRect/>
          </a:stretch>
        </p:blipFill>
        <p:spPr>
          <a:xfrm>
            <a:off x="930859" y="5594299"/>
            <a:ext cx="332842" cy="332842"/>
          </a:xfrm>
          <a:prstGeom prst="rect">
            <a:avLst/>
          </a:prstGeom>
        </p:spPr>
      </p:pic>
      <p:sp>
        <p:nvSpPr>
          <p:cNvPr id="25" name="Text 19"/>
          <p:cNvSpPr txBox="1"/>
          <p:nvPr/>
        </p:nvSpPr>
        <p:spPr>
          <a:xfrm>
            <a:off x="1645920" y="5440680"/>
            <a:ext cx="3017520" cy="384048"/>
          </a:xfrm>
          <a:prstGeom prst="rect">
            <a:avLst/>
          </a:prstGeom>
          <a:noFill/>
          <a:ln/>
        </p:spPr>
        <p:txBody>
          <a:bodyPr wrap="square" lIns="0" tIns="0" rIns="0" bIns="0" rtlCol="0" anchor="ctr"/>
          <a:lstStyle/>
          <a:p>
            <a:pPr indent="0" marL="0">
              <a:buNone/>
            </a:pPr>
            <a:r>
              <a:rPr lang="en-US" sz="1900" b="1" dirty="0">
                <a:solidFill>
                  <a:srgbClr val="1B2430"/>
                </a:solidFill>
                <a:latin typeface="Calibri" pitchFamily="34" charset="0"/>
                <a:ea typeface="Calibri" pitchFamily="34" charset="-122"/>
                <a:cs typeface="Calibri" pitchFamily="34" charset="-120"/>
              </a:rPr>
              <a:t>8  Close the loop</a:t>
            </a:r>
            <a:endParaRPr lang="en-US" sz="1900" dirty="0"/>
          </a:p>
        </p:txBody>
      </p:sp>
      <p:sp>
        <p:nvSpPr>
          <p:cNvPr id="26" name="Text 20"/>
          <p:cNvSpPr txBox="1"/>
          <p:nvPr/>
        </p:nvSpPr>
        <p:spPr>
          <a:xfrm>
            <a:off x="1645920" y="5824728"/>
            <a:ext cx="3017520" cy="274320"/>
          </a:xfrm>
          <a:prstGeom prst="rect">
            <a:avLst/>
          </a:prstGeom>
          <a:noFill/>
          <a:ln/>
        </p:spPr>
        <p:txBody>
          <a:bodyPr wrap="square" lIns="0" tIns="0" rIns="0" bIns="0" rtlCol="0" anchor="t"/>
          <a:lstStyle/>
          <a:p>
            <a:pPr indent="0" marL="0">
              <a:buNone/>
            </a:pPr>
            <a:r>
              <a:rPr lang="en-US" sz="1200" b="1" dirty="0">
                <a:solidFill>
                  <a:srgbClr val="B8860B"/>
                </a:solidFill>
                <a:latin typeface="Calibri" pitchFamily="34" charset="0"/>
                <a:ea typeface="Calibri" pitchFamily="34" charset="-122"/>
                <a:cs typeface="Calibri" pitchFamily="34" charset="-120"/>
              </a:rPr>
              <a:t>crm → gold</a:t>
            </a:r>
            <a:endParaRPr lang="en-US" sz="1200" dirty="0"/>
          </a:p>
        </p:txBody>
      </p:sp>
      <p:sp>
        <p:nvSpPr>
          <p:cNvPr id="27" name="Text 21"/>
          <p:cNvSpPr txBox="1"/>
          <p:nvPr/>
        </p:nvSpPr>
        <p:spPr>
          <a:xfrm>
            <a:off x="4754880" y="5367528"/>
            <a:ext cx="6705295" cy="786384"/>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Calls and bot orders are logged in crm. A bot order counts as revenue only once it is fulfilled and its invoice lines reach fact_sales.</a:t>
            </a:r>
            <a:endParaRPr lang="en-US" sz="13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Engine rules: versioned parameters (v1)</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The scoring code is still to be written; these are the agreed thresholds it will read</a:t>
            </a:r>
            <a:endParaRPr lang="en-US" sz="1600" dirty="0"/>
          </a:p>
        </p:txBody>
      </p:sp>
      <p:sp>
        <p:nvSpPr>
          <p:cNvPr id="4" name="Shape 2"/>
          <p:cNvSpPr/>
          <p:nvPr/>
        </p:nvSpPr>
        <p:spPr>
          <a:xfrm>
            <a:off x="548640" y="1691640"/>
            <a:ext cx="2567864" cy="2240280"/>
          </a:xfrm>
          <a:prstGeom prst="roundRect">
            <a:avLst>
              <a:gd name="adj" fmla="val 3265"/>
            </a:avLst>
          </a:prstGeom>
          <a:solidFill>
            <a:srgbClr val="F3F5F8"/>
          </a:solidFill>
          <a:ln/>
        </p:spPr>
      </p:sp>
      <p:sp>
        <p:nvSpPr>
          <p:cNvPr id="5" name="Text 3"/>
          <p:cNvSpPr txBox="1"/>
          <p:nvPr/>
        </p:nvSpPr>
        <p:spPr>
          <a:xfrm>
            <a:off x="777240" y="1892808"/>
            <a:ext cx="2110664" cy="868680"/>
          </a:xfrm>
          <a:prstGeom prst="rect">
            <a:avLst/>
          </a:prstGeom>
          <a:noFill/>
          <a:ln/>
        </p:spPr>
        <p:txBody>
          <a:bodyPr wrap="square" lIns="0" tIns="0" rIns="0" bIns="0" rtlCol="0" anchor="ctr"/>
          <a:lstStyle/>
          <a:p>
            <a:pPr indent="0" marL="0">
              <a:buNone/>
            </a:pPr>
            <a:r>
              <a:rPr lang="en-US" sz="4400" b="1" dirty="0">
                <a:solidFill>
                  <a:srgbClr val="A23B5B"/>
                </a:solidFill>
                <a:latin typeface="Cambria" pitchFamily="34" charset="0"/>
                <a:ea typeface="Cambria" pitchFamily="34" charset="-122"/>
                <a:cs typeface="Cambria" pitchFamily="34" charset="-120"/>
              </a:rPr>
              <a:t>14 days</a:t>
            </a:r>
            <a:endParaRPr lang="en-US" sz="4400" dirty="0"/>
          </a:p>
        </p:txBody>
      </p:sp>
      <p:sp>
        <p:nvSpPr>
          <p:cNvPr id="6" name="Text 4"/>
          <p:cNvSpPr txBox="1"/>
          <p:nvPr/>
        </p:nvSpPr>
        <p:spPr>
          <a:xfrm>
            <a:off x="777240" y="2834640"/>
            <a:ext cx="2110664" cy="9601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or 1.5× the trader's usual gap (min 7 days), whichever comes first → At-Risk</a:t>
            </a:r>
            <a:endParaRPr lang="en-US" sz="1350" dirty="0"/>
          </a:p>
        </p:txBody>
      </p:sp>
      <p:sp>
        <p:nvSpPr>
          <p:cNvPr id="7" name="Shape 5"/>
          <p:cNvSpPr/>
          <p:nvPr/>
        </p:nvSpPr>
        <p:spPr>
          <a:xfrm>
            <a:off x="3390824" y="1691640"/>
            <a:ext cx="2567864" cy="2240280"/>
          </a:xfrm>
          <a:prstGeom prst="roundRect">
            <a:avLst>
              <a:gd name="adj" fmla="val 3265"/>
            </a:avLst>
          </a:prstGeom>
          <a:solidFill>
            <a:srgbClr val="F3F5F8"/>
          </a:solidFill>
          <a:ln/>
        </p:spPr>
      </p:sp>
      <p:sp>
        <p:nvSpPr>
          <p:cNvPr id="8" name="Text 6"/>
          <p:cNvSpPr txBox="1"/>
          <p:nvPr/>
        </p:nvSpPr>
        <p:spPr>
          <a:xfrm>
            <a:off x="3619424" y="1892808"/>
            <a:ext cx="2110664" cy="868680"/>
          </a:xfrm>
          <a:prstGeom prst="rect">
            <a:avLst/>
          </a:prstGeom>
          <a:noFill/>
          <a:ln/>
        </p:spPr>
        <p:txBody>
          <a:bodyPr wrap="square" lIns="0" tIns="0" rIns="0" bIns="0" rtlCol="0" anchor="ctr"/>
          <a:lstStyle/>
          <a:p>
            <a:pPr indent="0" marL="0">
              <a:buNone/>
            </a:pPr>
            <a:r>
              <a:rPr lang="en-US" sz="4400" b="1" dirty="0">
                <a:solidFill>
                  <a:srgbClr val="A0612B"/>
                </a:solidFill>
                <a:latin typeface="Cambria" pitchFamily="34" charset="0"/>
                <a:ea typeface="Cambria" pitchFamily="34" charset="-122"/>
                <a:cs typeface="Cambria" pitchFamily="34" charset="-120"/>
              </a:rPr>
              <a:t>3× gap</a:t>
            </a:r>
            <a:endParaRPr lang="en-US" sz="4400" dirty="0"/>
          </a:p>
        </p:txBody>
      </p:sp>
      <p:sp>
        <p:nvSpPr>
          <p:cNvPr id="9" name="Text 7"/>
          <p:cNvSpPr txBox="1"/>
          <p:nvPr/>
        </p:nvSpPr>
        <p:spPr>
          <a:xfrm>
            <a:off x="3619424" y="2834640"/>
            <a:ext cx="2110664" cy="9601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or 90 days without a purchase → Lapsed</a:t>
            </a:r>
            <a:endParaRPr lang="en-US" sz="1350" dirty="0"/>
          </a:p>
        </p:txBody>
      </p:sp>
      <p:sp>
        <p:nvSpPr>
          <p:cNvPr id="10" name="Shape 8"/>
          <p:cNvSpPr/>
          <p:nvPr/>
        </p:nvSpPr>
        <p:spPr>
          <a:xfrm>
            <a:off x="6233008" y="1691640"/>
            <a:ext cx="2567864" cy="2240280"/>
          </a:xfrm>
          <a:prstGeom prst="roundRect">
            <a:avLst>
              <a:gd name="adj" fmla="val 3265"/>
            </a:avLst>
          </a:prstGeom>
          <a:solidFill>
            <a:srgbClr val="F3F5F8"/>
          </a:solidFill>
          <a:ln/>
        </p:spPr>
      </p:sp>
      <p:sp>
        <p:nvSpPr>
          <p:cNvPr id="11" name="Text 9"/>
          <p:cNvSpPr txBox="1"/>
          <p:nvPr/>
        </p:nvSpPr>
        <p:spPr>
          <a:xfrm>
            <a:off x="6461608" y="1892808"/>
            <a:ext cx="2110664" cy="868680"/>
          </a:xfrm>
          <a:prstGeom prst="rect">
            <a:avLst/>
          </a:prstGeom>
          <a:noFill/>
          <a:ln/>
        </p:spPr>
        <p:txBody>
          <a:bodyPr wrap="square" lIns="0" tIns="0" rIns="0" bIns="0" rtlCol="0" anchor="ctr"/>
          <a:lstStyle/>
          <a:p>
            <a:pPr indent="0" marL="0">
              <a:buNone/>
            </a:pPr>
            <a:r>
              <a:rPr lang="en-US" sz="4400" b="1" dirty="0">
                <a:solidFill>
                  <a:srgbClr val="5B4B99"/>
                </a:solidFill>
                <a:latin typeface="Cambria" pitchFamily="34" charset="0"/>
                <a:ea typeface="Cambria" pitchFamily="34" charset="-122"/>
                <a:cs typeface="Cambria" pitchFamily="34" charset="-120"/>
              </a:rPr>
              <a:t>20%</a:t>
            </a:r>
            <a:endParaRPr lang="en-US" sz="4400" dirty="0"/>
          </a:p>
        </p:txBody>
      </p:sp>
      <p:sp>
        <p:nvSpPr>
          <p:cNvPr id="12" name="Text 10"/>
          <p:cNvSpPr txBox="1"/>
          <p:nvPr/>
        </p:nvSpPr>
        <p:spPr>
          <a:xfrm>
            <a:off x="6461608" y="2834640"/>
            <a:ext cx="2110664" cy="9601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persistent holdout: a hash of a secret salt and the trader id, assigned once</a:t>
            </a:r>
            <a:endParaRPr lang="en-US" sz="1350" dirty="0"/>
          </a:p>
        </p:txBody>
      </p:sp>
      <p:sp>
        <p:nvSpPr>
          <p:cNvPr id="13" name="Shape 11"/>
          <p:cNvSpPr/>
          <p:nvPr/>
        </p:nvSpPr>
        <p:spPr>
          <a:xfrm>
            <a:off x="9075191" y="1691640"/>
            <a:ext cx="2567864" cy="2240280"/>
          </a:xfrm>
          <a:prstGeom prst="roundRect">
            <a:avLst>
              <a:gd name="adj" fmla="val 3265"/>
            </a:avLst>
          </a:prstGeom>
          <a:solidFill>
            <a:srgbClr val="F3F5F8"/>
          </a:solidFill>
          <a:ln/>
        </p:spPr>
      </p:sp>
      <p:sp>
        <p:nvSpPr>
          <p:cNvPr id="14" name="Text 12"/>
          <p:cNvSpPr txBox="1"/>
          <p:nvPr/>
        </p:nvSpPr>
        <p:spPr>
          <a:xfrm>
            <a:off x="9303791" y="1892808"/>
            <a:ext cx="2110664" cy="868680"/>
          </a:xfrm>
          <a:prstGeom prst="rect">
            <a:avLst/>
          </a:prstGeom>
          <a:noFill/>
          <a:ln/>
        </p:spPr>
        <p:txBody>
          <a:bodyPr wrap="square" lIns="0" tIns="0" rIns="0" bIns="0" rtlCol="0" anchor="ctr"/>
          <a:lstStyle/>
          <a:p>
            <a:pPr indent="0" marL="0">
              <a:buNone/>
            </a:pPr>
            <a:r>
              <a:rPr lang="en-US" sz="4400" b="1" dirty="0">
                <a:solidFill>
                  <a:srgbClr val="B8860B"/>
                </a:solidFill>
                <a:latin typeface="Cambria" pitchFamily="34" charset="0"/>
                <a:ea typeface="Cambria" pitchFamily="34" charset="-122"/>
                <a:cs typeface="Cambria" pitchFamily="34" charset="-120"/>
              </a:rPr>
              <a:t>±0.5%</a:t>
            </a:r>
            <a:endParaRPr lang="en-US" sz="4400" dirty="0"/>
          </a:p>
        </p:txBody>
      </p:sp>
      <p:sp>
        <p:nvSpPr>
          <p:cNvPr id="15" name="Text 13"/>
          <p:cNvSpPr txBox="1"/>
          <p:nvPr/>
        </p:nvSpPr>
        <p:spPr>
          <a:xfrm>
            <a:off x="9303791" y="2834640"/>
            <a:ext cx="2110664" cy="9601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revenue tolerance against ProDairy's control totals before a file is held</a:t>
            </a:r>
            <a:endParaRPr lang="en-US" sz="1350" dirty="0"/>
          </a:p>
        </p:txBody>
      </p:sp>
      <p:sp>
        <p:nvSpPr>
          <p:cNvPr id="16" name="Shape 14"/>
          <p:cNvSpPr/>
          <p:nvPr/>
        </p:nvSpPr>
        <p:spPr>
          <a:xfrm>
            <a:off x="548640" y="4206240"/>
            <a:ext cx="2036003" cy="1234440"/>
          </a:xfrm>
          <a:prstGeom prst="roundRect">
            <a:avLst>
              <a:gd name="adj" fmla="val 5926"/>
            </a:avLst>
          </a:prstGeom>
          <a:solidFill>
            <a:srgbClr val="FFFFFF"/>
          </a:solidFill>
          <a:ln w="12700">
            <a:solidFill>
              <a:srgbClr val="D5DAE1"/>
            </a:solidFill>
            <a:prstDash val="solid"/>
          </a:ln>
        </p:spPr>
      </p:sp>
      <p:sp>
        <p:nvSpPr>
          <p:cNvPr id="17" name="Text 15"/>
          <p:cNvSpPr txBox="1"/>
          <p:nvPr/>
        </p:nvSpPr>
        <p:spPr>
          <a:xfrm>
            <a:off x="713232" y="4334256"/>
            <a:ext cx="1706819" cy="9784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New: first purchase within 30 days and at most 2 purchase days</a:t>
            </a:r>
            <a:endParaRPr lang="en-US" sz="1250" dirty="0"/>
          </a:p>
        </p:txBody>
      </p:sp>
      <p:sp>
        <p:nvSpPr>
          <p:cNvPr id="18" name="Shape 16"/>
          <p:cNvSpPr/>
          <p:nvPr/>
        </p:nvSpPr>
        <p:spPr>
          <a:xfrm>
            <a:off x="2813243" y="4206240"/>
            <a:ext cx="2036003" cy="1234440"/>
          </a:xfrm>
          <a:prstGeom prst="roundRect">
            <a:avLst>
              <a:gd name="adj" fmla="val 5926"/>
            </a:avLst>
          </a:prstGeom>
          <a:solidFill>
            <a:srgbClr val="FFFFFF"/>
          </a:solidFill>
          <a:ln w="12700">
            <a:solidFill>
              <a:srgbClr val="D5DAE1"/>
            </a:solidFill>
            <a:prstDash val="solid"/>
          </a:ln>
        </p:spPr>
      </p:sp>
      <p:sp>
        <p:nvSpPr>
          <p:cNvPr id="19" name="Text 17"/>
          <p:cNvSpPr txBox="1"/>
          <p:nvPr/>
        </p:nvSpPr>
        <p:spPr>
          <a:xfrm>
            <a:off x="2977835" y="4334256"/>
            <a:ext cx="1706819" cy="9784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Not RFM-scored with under 45 days of history</a:t>
            </a:r>
            <a:endParaRPr lang="en-US" sz="1250" dirty="0"/>
          </a:p>
        </p:txBody>
      </p:sp>
      <p:sp>
        <p:nvSpPr>
          <p:cNvPr id="20" name="Shape 18"/>
          <p:cNvSpPr/>
          <p:nvPr/>
        </p:nvSpPr>
        <p:spPr>
          <a:xfrm>
            <a:off x="5077846" y="4206240"/>
            <a:ext cx="2036003" cy="1234440"/>
          </a:xfrm>
          <a:prstGeom prst="roundRect">
            <a:avLst>
              <a:gd name="adj" fmla="val 5926"/>
            </a:avLst>
          </a:prstGeom>
          <a:solidFill>
            <a:srgbClr val="FFFFFF"/>
          </a:solidFill>
          <a:ln w="12700">
            <a:solidFill>
              <a:srgbClr val="D5DAE1"/>
            </a:solidFill>
            <a:prstDash val="solid"/>
          </a:ln>
        </p:spPr>
      </p:sp>
      <p:sp>
        <p:nvSpPr>
          <p:cNvPr id="21" name="Text 19"/>
          <p:cNvSpPr txBox="1"/>
          <p:nvPr/>
        </p:nvSpPr>
        <p:spPr>
          <a:xfrm>
            <a:off x="5242438" y="4334256"/>
            <a:ext cx="1706819" cy="9784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Frequency scores step up at 1, 2, 3, 5 and 9 purchase days</a:t>
            </a:r>
            <a:endParaRPr lang="en-US" sz="1250" dirty="0"/>
          </a:p>
        </p:txBody>
      </p:sp>
      <p:sp>
        <p:nvSpPr>
          <p:cNvPr id="22" name="Shape 20"/>
          <p:cNvSpPr/>
          <p:nvPr/>
        </p:nvSpPr>
        <p:spPr>
          <a:xfrm>
            <a:off x="7342449" y="4206240"/>
            <a:ext cx="2036003" cy="1234440"/>
          </a:xfrm>
          <a:prstGeom prst="roundRect">
            <a:avLst>
              <a:gd name="adj" fmla="val 5926"/>
            </a:avLst>
          </a:prstGeom>
          <a:solidFill>
            <a:srgbClr val="FFFFFF"/>
          </a:solidFill>
          <a:ln w="12700">
            <a:solidFill>
              <a:srgbClr val="D5DAE1"/>
            </a:solidFill>
            <a:prstDash val="solid"/>
          </a:ln>
        </p:spPr>
      </p:sp>
      <p:sp>
        <p:nvSpPr>
          <p:cNvPr id="23" name="Text 21"/>
          <p:cNvSpPr txBox="1"/>
          <p:nvPr/>
        </p:nvSpPr>
        <p:spPr>
          <a:xfrm>
            <a:off x="7507041" y="4334256"/>
            <a:ext cx="1706819" cy="9784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Usual gap shrunk toward the segment median (k = 3)</a:t>
            </a:r>
            <a:endParaRPr lang="en-US" sz="1250" dirty="0"/>
          </a:p>
        </p:txBody>
      </p:sp>
      <p:sp>
        <p:nvSpPr>
          <p:cNvPr id="24" name="Shape 22"/>
          <p:cNvSpPr/>
          <p:nvPr/>
        </p:nvSpPr>
        <p:spPr>
          <a:xfrm>
            <a:off x="9607052" y="4206240"/>
            <a:ext cx="2036003" cy="1234440"/>
          </a:xfrm>
          <a:prstGeom prst="roundRect">
            <a:avLst>
              <a:gd name="adj" fmla="val 5926"/>
            </a:avLst>
          </a:prstGeom>
          <a:solidFill>
            <a:srgbClr val="FFFFFF"/>
          </a:solidFill>
          <a:ln w="12700">
            <a:solidFill>
              <a:srgbClr val="D5DAE1"/>
            </a:solidFill>
            <a:prstDash val="solid"/>
          </a:ln>
        </p:spPr>
      </p:sp>
      <p:sp>
        <p:nvSpPr>
          <p:cNvPr id="25" name="Text 23"/>
          <p:cNvSpPr txBox="1"/>
          <p:nvPr/>
        </p:nvSpPr>
        <p:spPr>
          <a:xfrm>
            <a:off x="9771644" y="4334256"/>
            <a:ext cx="1706819" cy="9784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Branches under 100 scored traders are pooled</a:t>
            </a:r>
            <a:endParaRPr lang="en-US" sz="1250" dirty="0"/>
          </a:p>
        </p:txBody>
      </p:sp>
      <p:sp>
        <p:nvSpPr>
          <p:cNvPr id="26" name="Text 24"/>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250" i="1" dirty="0">
                <a:solidFill>
                  <a:srgbClr val="5B6573"/>
                </a:solidFill>
                <a:latin typeface="Calibri" pitchFamily="34" charset="0"/>
                <a:ea typeface="Calibri" pitchFamily="34" charset="-122"/>
                <a:cs typeface="Calibri" pitchFamily="34" charset="-120"/>
              </a:rPr>
              <a:t>All values live in gold.ref_engine_param (v1, valid from 27 Sep 2026). Changes need owner approval, and each scoring run stores the parameters it used.</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The worker: ops.load_log is the queue</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Each file moves through these statuses; the worker never runs as a daemon</a:t>
            </a:r>
            <a:endParaRPr lang="en-US" sz="1600" dirty="0"/>
          </a:p>
        </p:txBody>
      </p:sp>
      <p:sp>
        <p:nvSpPr>
          <p:cNvPr id="4" name="Shape 2"/>
          <p:cNvSpPr/>
          <p:nvPr/>
        </p:nvSpPr>
        <p:spPr>
          <a:xfrm>
            <a:off x="548640" y="2103120"/>
            <a:ext cx="1463040" cy="566928"/>
          </a:xfrm>
          <a:prstGeom prst="roundRect">
            <a:avLst>
              <a:gd name="adj" fmla="val 12903"/>
            </a:avLst>
          </a:prstGeom>
          <a:solidFill>
            <a:srgbClr val="D5DAE1"/>
          </a:solidFill>
          <a:ln/>
        </p:spPr>
      </p:sp>
      <p:sp>
        <p:nvSpPr>
          <p:cNvPr id="5" name="Text 3"/>
          <p:cNvSpPr txBox="1"/>
          <p:nvPr/>
        </p:nvSpPr>
        <p:spPr>
          <a:xfrm>
            <a:off x="548640" y="2103120"/>
            <a:ext cx="1463040" cy="566928"/>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started</a:t>
            </a:r>
            <a:endParaRPr lang="en-US" sz="1400" dirty="0"/>
          </a:p>
        </p:txBody>
      </p:sp>
      <p:sp>
        <p:nvSpPr>
          <p:cNvPr id="6" name="Shape 4"/>
          <p:cNvSpPr/>
          <p:nvPr/>
        </p:nvSpPr>
        <p:spPr>
          <a:xfrm>
            <a:off x="2423160" y="2103120"/>
            <a:ext cx="1463040" cy="566928"/>
          </a:xfrm>
          <a:prstGeom prst="roundRect">
            <a:avLst>
              <a:gd name="adj" fmla="val 12903"/>
            </a:avLst>
          </a:prstGeom>
          <a:solidFill>
            <a:srgbClr val="A0612B"/>
          </a:solidFill>
          <a:ln/>
        </p:spPr>
      </p:sp>
      <p:sp>
        <p:nvSpPr>
          <p:cNvPr id="7" name="Text 5"/>
          <p:cNvSpPr txBox="1"/>
          <p:nvPr/>
        </p:nvSpPr>
        <p:spPr>
          <a:xfrm>
            <a:off x="2423160" y="2103120"/>
            <a:ext cx="14630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loaded</a:t>
            </a:r>
            <a:endParaRPr lang="en-US" sz="1400" dirty="0"/>
          </a:p>
        </p:txBody>
      </p:sp>
      <p:sp>
        <p:nvSpPr>
          <p:cNvPr id="8" name="Shape 6"/>
          <p:cNvSpPr/>
          <p:nvPr/>
        </p:nvSpPr>
        <p:spPr>
          <a:xfrm>
            <a:off x="4297680" y="2103120"/>
            <a:ext cx="1463040" cy="566928"/>
          </a:xfrm>
          <a:prstGeom prst="roundRect">
            <a:avLst>
              <a:gd name="adj" fmla="val 12903"/>
            </a:avLst>
          </a:prstGeom>
          <a:solidFill>
            <a:srgbClr val="6E7781"/>
          </a:solidFill>
          <a:ln/>
        </p:spPr>
      </p:sp>
      <p:sp>
        <p:nvSpPr>
          <p:cNvPr id="9" name="Text 7"/>
          <p:cNvSpPr txBox="1"/>
          <p:nvPr/>
        </p:nvSpPr>
        <p:spPr>
          <a:xfrm>
            <a:off x="4297680" y="2103120"/>
            <a:ext cx="14630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processing</a:t>
            </a:r>
            <a:endParaRPr lang="en-US" sz="1400" dirty="0"/>
          </a:p>
        </p:txBody>
      </p:sp>
      <p:sp>
        <p:nvSpPr>
          <p:cNvPr id="10" name="Shape 8"/>
          <p:cNvSpPr/>
          <p:nvPr/>
        </p:nvSpPr>
        <p:spPr>
          <a:xfrm>
            <a:off x="6172200" y="2103120"/>
            <a:ext cx="1463040" cy="566928"/>
          </a:xfrm>
          <a:prstGeom prst="roundRect">
            <a:avLst>
              <a:gd name="adj" fmla="val 12903"/>
            </a:avLst>
          </a:prstGeom>
          <a:solidFill>
            <a:srgbClr val="1F7A5C"/>
          </a:solidFill>
          <a:ln/>
        </p:spPr>
      </p:sp>
      <p:sp>
        <p:nvSpPr>
          <p:cNvPr id="11" name="Text 9"/>
          <p:cNvSpPr txBox="1"/>
          <p:nvPr/>
        </p:nvSpPr>
        <p:spPr>
          <a:xfrm>
            <a:off x="6172200" y="2103120"/>
            <a:ext cx="14630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published</a:t>
            </a:r>
            <a:endParaRPr lang="en-US" sz="1400" dirty="0"/>
          </a:p>
        </p:txBody>
      </p:sp>
      <p:sp>
        <p:nvSpPr>
          <p:cNvPr id="12" name="Shape 10"/>
          <p:cNvSpPr/>
          <p:nvPr/>
        </p:nvSpPr>
        <p:spPr>
          <a:xfrm>
            <a:off x="548640" y="3931920"/>
            <a:ext cx="1463040" cy="566928"/>
          </a:xfrm>
          <a:prstGeom prst="roundRect">
            <a:avLst>
              <a:gd name="adj" fmla="val 12903"/>
            </a:avLst>
          </a:prstGeom>
          <a:solidFill>
            <a:srgbClr val="B23A3A"/>
          </a:solidFill>
          <a:ln/>
        </p:spPr>
      </p:sp>
      <p:sp>
        <p:nvSpPr>
          <p:cNvPr id="13" name="Text 11"/>
          <p:cNvSpPr txBox="1"/>
          <p:nvPr/>
        </p:nvSpPr>
        <p:spPr>
          <a:xfrm>
            <a:off x="548640" y="3931920"/>
            <a:ext cx="14630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p>
        </p:txBody>
      </p:sp>
      <p:sp>
        <p:nvSpPr>
          <p:cNvPr id="14" name="Shape 12"/>
          <p:cNvSpPr/>
          <p:nvPr/>
        </p:nvSpPr>
        <p:spPr>
          <a:xfrm>
            <a:off x="4297680" y="3931920"/>
            <a:ext cx="1463040" cy="566928"/>
          </a:xfrm>
          <a:prstGeom prst="roundRect">
            <a:avLst>
              <a:gd name="adj" fmla="val 12903"/>
            </a:avLst>
          </a:prstGeom>
          <a:solidFill>
            <a:srgbClr val="B23A3A"/>
          </a:solidFill>
          <a:ln/>
        </p:spPr>
      </p:sp>
      <p:sp>
        <p:nvSpPr>
          <p:cNvPr id="15" name="Text 13"/>
          <p:cNvSpPr txBox="1"/>
          <p:nvPr/>
        </p:nvSpPr>
        <p:spPr>
          <a:xfrm>
            <a:off x="4297680" y="3931920"/>
            <a:ext cx="14630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failed</a:t>
            </a:r>
            <a:endParaRPr lang="en-US" sz="1400" dirty="0"/>
          </a:p>
        </p:txBody>
      </p:sp>
      <p:sp>
        <p:nvSpPr>
          <p:cNvPr id="16" name="Shape 14"/>
          <p:cNvSpPr/>
          <p:nvPr/>
        </p:nvSpPr>
        <p:spPr>
          <a:xfrm>
            <a:off x="6172200" y="3931920"/>
            <a:ext cx="1463040" cy="566928"/>
          </a:xfrm>
          <a:prstGeom prst="roundRect">
            <a:avLst>
              <a:gd name="adj" fmla="val 12903"/>
            </a:avLst>
          </a:prstGeom>
          <a:solidFill>
            <a:srgbClr val="B8860B"/>
          </a:solidFill>
          <a:ln/>
        </p:spPr>
      </p:sp>
      <p:sp>
        <p:nvSpPr>
          <p:cNvPr id="17" name="Text 15"/>
          <p:cNvSpPr txBox="1"/>
          <p:nvPr/>
        </p:nvSpPr>
        <p:spPr>
          <a:xfrm>
            <a:off x="6172200" y="3931920"/>
            <a:ext cx="14630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held</a:t>
            </a:r>
            <a:endParaRPr lang="en-US" sz="1400" dirty="0"/>
          </a:p>
        </p:txBody>
      </p:sp>
      <p:sp>
        <p:nvSpPr>
          <p:cNvPr id="18" name="Shape 16"/>
          <p:cNvSpPr/>
          <p:nvPr/>
        </p:nvSpPr>
        <p:spPr>
          <a:xfrm>
            <a:off x="2011680" y="2386584"/>
            <a:ext cx="411480" cy="0"/>
          </a:xfrm>
          <a:prstGeom prst="line">
            <a:avLst/>
          </a:prstGeom>
          <a:noFill/>
          <a:ln w="19050">
            <a:solidFill>
              <a:srgbClr val="5B6573"/>
            </a:solidFill>
            <a:prstDash val="solid"/>
            <a:tailEnd type="triangle"/>
          </a:ln>
        </p:spPr>
      </p:sp>
      <p:sp>
        <p:nvSpPr>
          <p:cNvPr id="19" name="Shape 17"/>
          <p:cNvSpPr/>
          <p:nvPr/>
        </p:nvSpPr>
        <p:spPr>
          <a:xfrm>
            <a:off x="3886200" y="2386584"/>
            <a:ext cx="411480" cy="0"/>
          </a:xfrm>
          <a:prstGeom prst="line">
            <a:avLst/>
          </a:prstGeom>
          <a:noFill/>
          <a:ln w="19050">
            <a:solidFill>
              <a:srgbClr val="5B6573"/>
            </a:solidFill>
            <a:prstDash val="solid"/>
            <a:tailEnd type="triangle"/>
          </a:ln>
        </p:spPr>
      </p:sp>
      <p:sp>
        <p:nvSpPr>
          <p:cNvPr id="20" name="Shape 18"/>
          <p:cNvSpPr/>
          <p:nvPr/>
        </p:nvSpPr>
        <p:spPr>
          <a:xfrm>
            <a:off x="5760720" y="2386584"/>
            <a:ext cx="411480" cy="0"/>
          </a:xfrm>
          <a:prstGeom prst="line">
            <a:avLst/>
          </a:prstGeom>
          <a:noFill/>
          <a:ln w="19050">
            <a:solidFill>
              <a:srgbClr val="5B6573"/>
            </a:solidFill>
            <a:prstDash val="solid"/>
            <a:tailEnd type="triangle"/>
          </a:ln>
        </p:spPr>
      </p:sp>
      <p:sp>
        <p:nvSpPr>
          <p:cNvPr id="21" name="Text 19"/>
          <p:cNvSpPr txBox="1"/>
          <p:nvPr/>
        </p:nvSpPr>
        <p:spPr>
          <a:xfrm>
            <a:off x="1920240" y="1792224"/>
            <a:ext cx="594360" cy="274320"/>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landed</a:t>
            </a:r>
            <a:endParaRPr lang="en-US" sz="1100" dirty="0"/>
          </a:p>
        </p:txBody>
      </p:sp>
      <p:sp>
        <p:nvSpPr>
          <p:cNvPr id="22" name="Text 20"/>
          <p:cNvSpPr txBox="1"/>
          <p:nvPr/>
        </p:nvSpPr>
        <p:spPr>
          <a:xfrm>
            <a:off x="3794760" y="1792224"/>
            <a:ext cx="594360" cy="274320"/>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claimed</a:t>
            </a:r>
            <a:endParaRPr lang="en-US" sz="1100" dirty="0"/>
          </a:p>
        </p:txBody>
      </p:sp>
      <p:sp>
        <p:nvSpPr>
          <p:cNvPr id="23" name="Text 21"/>
          <p:cNvSpPr txBox="1"/>
          <p:nvPr/>
        </p:nvSpPr>
        <p:spPr>
          <a:xfrm>
            <a:off x="5349240" y="1792224"/>
            <a:ext cx="1234440" cy="274320"/>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clean + reconciled</a:t>
            </a:r>
            <a:endParaRPr lang="en-US" sz="1100" dirty="0"/>
          </a:p>
        </p:txBody>
      </p:sp>
      <p:sp>
        <p:nvSpPr>
          <p:cNvPr id="24" name="Shape 22"/>
          <p:cNvSpPr/>
          <p:nvPr/>
        </p:nvSpPr>
        <p:spPr>
          <a:xfrm>
            <a:off x="914400" y="2670048"/>
            <a:ext cx="0" cy="1261872"/>
          </a:xfrm>
          <a:prstGeom prst="line">
            <a:avLst/>
          </a:prstGeom>
          <a:noFill/>
          <a:ln w="19050">
            <a:solidFill>
              <a:srgbClr val="5B6573"/>
            </a:solidFill>
            <a:prstDash val="solid"/>
            <a:tailEnd type="triangle"/>
          </a:ln>
        </p:spPr>
      </p:sp>
      <p:sp>
        <p:nvSpPr>
          <p:cNvPr id="25" name="Text 23"/>
          <p:cNvSpPr txBox="1"/>
          <p:nvPr/>
        </p:nvSpPr>
        <p:spPr>
          <a:xfrm>
            <a:off x="1005840" y="3172968"/>
            <a:ext cx="1371600" cy="274320"/>
          </a:xfrm>
          <a:prstGeom prst="rect">
            <a:avLst/>
          </a:prstGeom>
          <a:noFill/>
          <a:ln/>
        </p:spPr>
        <p:txBody>
          <a:bodyPr wrap="square" lIns="0" tIns="0" rIns="0" bIns="0" rtlCol="0" anchor="t"/>
          <a:lstStyle/>
          <a:p>
            <a:pPr algn="l" indent="0" marL="0">
              <a:buNone/>
            </a:pPr>
            <a:r>
              <a:rPr lang="en-US" sz="1100" dirty="0">
                <a:solidFill>
                  <a:srgbClr val="5B6573"/>
                </a:solidFill>
                <a:latin typeface="Calibri" pitchFamily="34" charset="0"/>
                <a:ea typeface="Calibri" pitchFamily="34" charset="-122"/>
                <a:cs typeface="Calibri" pitchFamily="34" charset="-120"/>
              </a:rPr>
              <a:t>header check failed</a:t>
            </a:r>
            <a:endParaRPr lang="en-US" sz="1100" dirty="0"/>
          </a:p>
        </p:txBody>
      </p:sp>
      <p:sp>
        <p:nvSpPr>
          <p:cNvPr id="26" name="Shape 24"/>
          <p:cNvSpPr/>
          <p:nvPr/>
        </p:nvSpPr>
        <p:spPr>
          <a:xfrm>
            <a:off x="5394960" y="2670048"/>
            <a:ext cx="0" cy="1261872"/>
          </a:xfrm>
          <a:prstGeom prst="line">
            <a:avLst/>
          </a:prstGeom>
          <a:noFill/>
          <a:ln w="19050">
            <a:solidFill>
              <a:srgbClr val="5B6573"/>
            </a:solidFill>
            <a:prstDash val="solid"/>
            <a:tailEnd type="triangle"/>
          </a:ln>
        </p:spPr>
      </p:sp>
      <p:sp>
        <p:nvSpPr>
          <p:cNvPr id="27" name="Text 25"/>
          <p:cNvSpPr txBox="1"/>
          <p:nvPr/>
        </p:nvSpPr>
        <p:spPr>
          <a:xfrm>
            <a:off x="5486400" y="3401568"/>
            <a:ext cx="914400" cy="274320"/>
          </a:xfrm>
          <a:prstGeom prst="rect">
            <a:avLst/>
          </a:prstGeom>
          <a:noFill/>
          <a:ln/>
        </p:spPr>
        <p:txBody>
          <a:bodyPr wrap="square" lIns="0" tIns="0" rIns="0" bIns="0" rtlCol="0" anchor="t"/>
          <a:lstStyle/>
          <a:p>
            <a:pPr algn="l" indent="0" marL="0">
              <a:buNone/>
            </a:pPr>
            <a:r>
              <a:rPr lang="en-US" sz="1100" dirty="0">
                <a:solidFill>
                  <a:srgbClr val="5B6573"/>
                </a:solidFill>
                <a:latin typeface="Calibri" pitchFamily="34" charset="0"/>
                <a:ea typeface="Calibri" pitchFamily="34" charset="-122"/>
                <a:cs typeface="Calibri" pitchFamily="34" charset="-120"/>
              </a:rPr>
              <a:t>3rd failure</a:t>
            </a:r>
            <a:endParaRPr lang="en-US" sz="1100" dirty="0"/>
          </a:p>
        </p:txBody>
      </p:sp>
      <p:sp>
        <p:nvSpPr>
          <p:cNvPr id="28" name="Shape 26"/>
          <p:cNvSpPr/>
          <p:nvPr/>
        </p:nvSpPr>
        <p:spPr>
          <a:xfrm>
            <a:off x="5760720" y="2624328"/>
            <a:ext cx="960120" cy="1307592"/>
          </a:xfrm>
          <a:prstGeom prst="line">
            <a:avLst/>
          </a:prstGeom>
          <a:noFill/>
          <a:ln w="19050">
            <a:solidFill>
              <a:srgbClr val="5B6573"/>
            </a:solidFill>
            <a:prstDash val="solid"/>
            <a:tailEnd type="triangle"/>
          </a:ln>
        </p:spPr>
      </p:sp>
      <p:sp>
        <p:nvSpPr>
          <p:cNvPr id="29" name="Text 27"/>
          <p:cNvSpPr txBox="1"/>
          <p:nvPr/>
        </p:nvSpPr>
        <p:spPr>
          <a:xfrm>
            <a:off x="6583680" y="3127248"/>
            <a:ext cx="1371600" cy="274320"/>
          </a:xfrm>
          <a:prstGeom prst="rect">
            <a:avLst/>
          </a:prstGeom>
          <a:noFill/>
          <a:ln/>
        </p:spPr>
        <p:txBody>
          <a:bodyPr wrap="square" lIns="0" tIns="0" rIns="0" bIns="0" rtlCol="0" anchor="t"/>
          <a:lstStyle/>
          <a:p>
            <a:pPr algn="l" indent="0" marL="0">
              <a:buNone/>
            </a:pPr>
            <a:r>
              <a:rPr lang="en-US" sz="1100" dirty="0">
                <a:solidFill>
                  <a:srgbClr val="5B6573"/>
                </a:solidFill>
                <a:latin typeface="Calibri" pitchFamily="34" charset="0"/>
                <a:ea typeface="Calibri" pitchFamily="34" charset="-122"/>
                <a:cs typeface="Calibri" pitchFamily="34" charset="-120"/>
              </a:rPr>
              <a:t>totals don't match</a:t>
            </a:r>
            <a:endParaRPr lang="en-US" sz="1100" dirty="0"/>
          </a:p>
        </p:txBody>
      </p:sp>
      <p:sp>
        <p:nvSpPr>
          <p:cNvPr id="30" name="Shape 28"/>
          <p:cNvSpPr/>
          <p:nvPr/>
        </p:nvSpPr>
        <p:spPr>
          <a:xfrm>
            <a:off x="4663440" y="2670048"/>
            <a:ext cx="0" cy="384048"/>
          </a:xfrm>
          <a:prstGeom prst="line">
            <a:avLst/>
          </a:prstGeom>
          <a:noFill/>
          <a:ln w="19050">
            <a:solidFill>
              <a:srgbClr val="5B6573"/>
            </a:solidFill>
            <a:prstDash val="solid"/>
          </a:ln>
        </p:spPr>
      </p:sp>
      <p:sp>
        <p:nvSpPr>
          <p:cNvPr id="31" name="Shape 29"/>
          <p:cNvSpPr/>
          <p:nvPr/>
        </p:nvSpPr>
        <p:spPr>
          <a:xfrm flipH="1">
            <a:off x="3154680" y="3054096"/>
            <a:ext cx="1508760" cy="0"/>
          </a:xfrm>
          <a:prstGeom prst="line">
            <a:avLst/>
          </a:prstGeom>
          <a:noFill/>
          <a:ln w="19050">
            <a:solidFill>
              <a:srgbClr val="5B6573"/>
            </a:solidFill>
            <a:prstDash val="solid"/>
          </a:ln>
        </p:spPr>
      </p:sp>
      <p:sp>
        <p:nvSpPr>
          <p:cNvPr id="32" name="Shape 30"/>
          <p:cNvSpPr/>
          <p:nvPr/>
        </p:nvSpPr>
        <p:spPr>
          <a:xfrm flipV="1">
            <a:off x="3154680" y="2670048"/>
            <a:ext cx="0" cy="384048"/>
          </a:xfrm>
          <a:prstGeom prst="line">
            <a:avLst/>
          </a:prstGeom>
          <a:noFill/>
          <a:ln w="19050">
            <a:solidFill>
              <a:srgbClr val="5B6573"/>
            </a:solidFill>
            <a:prstDash val="solid"/>
            <a:tailEnd type="triangle"/>
          </a:ln>
        </p:spPr>
      </p:sp>
      <p:sp>
        <p:nvSpPr>
          <p:cNvPr id="33" name="Text 31"/>
          <p:cNvSpPr txBox="1"/>
          <p:nvPr/>
        </p:nvSpPr>
        <p:spPr>
          <a:xfrm>
            <a:off x="2651760" y="3108960"/>
            <a:ext cx="2194560" cy="274320"/>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error: retry after 10, then 20 min</a:t>
            </a:r>
            <a:endParaRPr lang="en-US" sz="1100" dirty="0"/>
          </a:p>
        </p:txBody>
      </p:sp>
      <p:sp>
        <p:nvSpPr>
          <p:cNvPr id="34" name="Text 32"/>
          <p:cNvSpPr txBox="1"/>
          <p:nvPr/>
        </p:nvSpPr>
        <p:spPr>
          <a:xfrm>
            <a:off x="548640" y="4892040"/>
            <a:ext cx="7132320" cy="13716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A claim older than 30 minutes is taken back (the runner died)</a:t>
            </a:r>
            <a:endParaRPr lang="en-US" sz="1250" dirty="0"/>
          </a:p>
          <a:p>
            <a:pPr marL="152400" indent="-1524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Until cleanse, publish and scoring exist, runs end "waiting" and files stay queued</a:t>
            </a:r>
            <a:endParaRPr lang="en-US" sz="1250" dirty="0"/>
          </a:p>
          <a:p>
            <a:pPr marL="152400" indent="-1524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Every run is logged in ops.etl_runs with its counts</a:t>
            </a:r>
            <a:endParaRPr lang="en-US" sz="1250" dirty="0"/>
          </a:p>
        </p:txBody>
      </p:sp>
      <p:sp>
        <p:nvSpPr>
          <p:cNvPr id="35" name="Shape 33"/>
          <p:cNvSpPr/>
          <p:nvPr/>
        </p:nvSpPr>
        <p:spPr>
          <a:xfrm>
            <a:off x="8001000" y="1691640"/>
            <a:ext cx="3642055" cy="4572000"/>
          </a:xfrm>
          <a:prstGeom prst="roundRect">
            <a:avLst>
              <a:gd name="adj" fmla="val 2009"/>
            </a:avLst>
          </a:prstGeom>
          <a:solidFill>
            <a:srgbClr val="F3F5F8"/>
          </a:solidFill>
          <a:ln/>
        </p:spPr>
      </p:sp>
      <p:sp>
        <p:nvSpPr>
          <p:cNvPr id="36" name="Text 34"/>
          <p:cNvSpPr txBox="1"/>
          <p:nvPr/>
        </p:nvSpPr>
        <p:spPr>
          <a:xfrm>
            <a:off x="8229600" y="1847088"/>
            <a:ext cx="3184855" cy="365760"/>
          </a:xfrm>
          <a:prstGeom prst="rect">
            <a:avLst/>
          </a:prstGeom>
          <a:noFill/>
          <a:ln/>
        </p:spPr>
        <p:txBody>
          <a:bodyPr wrap="square" lIns="0" tIns="0" rIns="0" bIns="0" rtlCol="0" anchor="t"/>
          <a:lstStyle/>
          <a:p>
            <a:pPr indent="0" marL="0">
              <a:buNone/>
            </a:pPr>
            <a:r>
              <a:rPr lang="en-US" sz="1600" b="1" dirty="0">
                <a:solidFill>
                  <a:srgbClr val="1B2430"/>
                </a:solidFill>
                <a:latin typeface="Calibri" pitchFamily="34" charset="0"/>
                <a:ea typeface="Calibri" pitchFamily="34" charset="-122"/>
                <a:cs typeface="Calibri" pitchFamily="34" charset="-120"/>
              </a:rPr>
              <a:t>How it runs</a:t>
            </a:r>
            <a:endParaRPr lang="en-US" sz="1600" dirty="0"/>
          </a:p>
        </p:txBody>
      </p:sp>
      <p:sp>
        <p:nvSpPr>
          <p:cNvPr id="37" name="Text 35"/>
          <p:cNvSpPr txBox="1"/>
          <p:nvPr/>
        </p:nvSpPr>
        <p:spPr>
          <a:xfrm>
            <a:off x="8229600" y="2331720"/>
            <a:ext cx="3184855" cy="3794760"/>
          </a:xfrm>
          <a:prstGeom prst="rect">
            <a:avLst/>
          </a:prstGeom>
          <a:noFill/>
          <a:ln/>
        </p:spPr>
        <p:txBody>
          <a:bodyPr wrap="square" lIns="0" tIns="0" rIns="0" bIns="0" rtlCol="0" anchor="t"/>
          <a:lstStyle/>
          <a:p>
            <a:pPr marL="152400" indent="-152400">
              <a:spcAft>
                <a:spcPts val="800"/>
              </a:spcAft>
              <a:buSzPct val="100000"/>
              <a:buChar char="•"/>
            </a:pPr>
            <a:r>
              <a:rPr lang="en-US" sz="1250" b="1" dirty="0">
                <a:solidFill>
                  <a:srgbClr val="1B2430"/>
                </a:solidFill>
                <a:latin typeface="Calibri" pitchFamily="34" charset="0"/>
                <a:ea typeface="Calibri" pitchFamily="34" charset="-122"/>
                <a:cs typeface="Calibri" pitchFamily="34" charset="-120"/>
              </a:rPr>
              <a:t>--once</a:t>
            </a:r>
            <a:r>
              <a:rPr lang="en-US" sz="1250" dirty="0">
                <a:solidFill>
                  <a:srgbClr val="5B6573"/>
                </a:solidFill>
                <a:latin typeface="Calibri" pitchFamily="34" charset="0"/>
                <a:ea typeface="Calibri" pitchFamily="34" charset="-122"/>
                <a:cs typeface="Calibri" pitchFamily="34" charset="-120"/>
              </a:rPr>
              <a:t>: process waiting files, then exit</a:t>
            </a:r>
            <a:endParaRPr lang="en-US" sz="1250" dirty="0"/>
          </a:p>
          <a:p>
            <a:pPr marL="152400" indent="-152400">
              <a:spcAft>
                <a:spcPts val="800"/>
              </a:spcAft>
              <a:buSzPct val="100000"/>
              <a:buChar char="•"/>
            </a:pPr>
            <a:r>
              <a:rPr lang="en-US" sz="1250" b="1" dirty="0">
                <a:solidFill>
                  <a:srgbClr val="1B2430"/>
                </a:solidFill>
                <a:latin typeface="Calibri" pitchFamily="34" charset="0"/>
                <a:ea typeface="Calibri" pitchFamily="34" charset="-122"/>
                <a:cs typeface="Calibri" pitchFamily="34" charset="-120"/>
              </a:rPr>
              <a:t>--nightly</a:t>
            </a:r>
            <a:r>
              <a:rPr lang="en-US" sz="1250" dirty="0">
                <a:solidFill>
                  <a:srgbClr val="5B6573"/>
                </a:solidFill>
                <a:latin typeface="Calibri" pitchFamily="34" charset="0"/>
                <a:ea typeface="Calibri" pitchFamily="34" charset="-122"/>
                <a:cs typeface="Calibri" pitchFamily="34" charset="-120"/>
              </a:rPr>
              <a:t>: re-score every branch, then exit</a:t>
            </a:r>
            <a:endParaRPr lang="en-US" sz="1250" dirty="0"/>
          </a:p>
          <a:p>
            <a:pPr marL="152400" indent="-152400">
              <a:spcAft>
                <a:spcPts val="800"/>
              </a:spcAft>
              <a:buSzPct val="100000"/>
              <a:buChar char="•"/>
            </a:pPr>
            <a:r>
              <a:rPr lang="en-US" sz="1250" b="1" dirty="0">
                <a:solidFill>
                  <a:srgbClr val="1B2430"/>
                </a:solidFill>
                <a:latin typeface="Calibri" pitchFamily="34" charset="0"/>
                <a:ea typeface="Calibri" pitchFamily="34" charset="-122"/>
                <a:cs typeface="Calibri" pitchFamily="34" charset="-120"/>
              </a:rPr>
              <a:t>GitHub Actions</a:t>
            </a:r>
            <a:r>
              <a:rPr lang="en-US" sz="1250" dirty="0">
                <a:solidFill>
                  <a:srgbClr val="5B6573"/>
                </a:solidFill>
                <a:latin typeface="Calibri" pitchFamily="34" charset="0"/>
                <a:ea typeface="Calibri" pitchFamily="34" charset="-122"/>
                <a:cs typeface="Calibri" pitchFamily="34" charset="-120"/>
              </a:rPr>
              <a:t>: every 30 min 07:00–21:00 Harare, plus 02:00</a:t>
            </a:r>
            <a:endParaRPr lang="en-US" sz="1250" dirty="0"/>
          </a:p>
          <a:p>
            <a:pPr marL="152400" indent="-152400">
              <a:spcAft>
                <a:spcPts val="800"/>
              </a:spcAft>
              <a:buSzPct val="100000"/>
              <a:buChar char="•"/>
            </a:pPr>
            <a:r>
              <a:rPr lang="en-US" sz="1250" b="1" dirty="0">
                <a:solidFill>
                  <a:srgbClr val="1B2430"/>
                </a:solidFill>
                <a:latin typeface="Calibri" pitchFamily="34" charset="0"/>
                <a:ea typeface="Calibri" pitchFamily="34" charset="-122"/>
                <a:cs typeface="Calibri" pitchFamily="34" charset="-120"/>
              </a:rPr>
              <a:t>cPanel cron</a:t>
            </a:r>
            <a:r>
              <a:rPr lang="en-US" sz="1250" dirty="0">
                <a:solidFill>
                  <a:srgbClr val="5B6573"/>
                </a:solidFill>
                <a:latin typeface="Calibri" pitchFamily="34" charset="0"/>
                <a:ea typeface="Calibri" pitchFamily="34" charset="-122"/>
                <a:cs typeface="Calibri" pitchFamily="34" charset="-120"/>
              </a:rPr>
              <a:t>: same command, once port 5432 is open</a:t>
            </a:r>
            <a:endParaRPr lang="en-US" sz="1250" dirty="0"/>
          </a:p>
          <a:p>
            <a:pPr marL="152400" indent="-152400">
              <a:spcAft>
                <a:spcPts val="800"/>
              </a:spcAft>
              <a:buSzPct val="100000"/>
              <a:buChar char="•"/>
            </a:pPr>
            <a:r>
              <a:rPr lang="en-US" sz="1250" b="1" dirty="0">
                <a:solidFill>
                  <a:srgbClr val="1B2430"/>
                </a:solidFill>
                <a:latin typeface="Calibri" pitchFamily="34" charset="0"/>
                <a:ea typeface="Calibri" pitchFamily="34" charset="-122"/>
                <a:cs typeface="Calibri" pitchFamily="34" charset="-120"/>
              </a:rPr>
              <a:t>Switch-over</a:t>
            </a:r>
            <a:r>
              <a:rPr lang="en-US" sz="1250" dirty="0">
                <a:solidFill>
                  <a:srgbClr val="5B6573"/>
                </a:solidFill>
                <a:latin typeface="Calibri" pitchFamily="34" charset="0"/>
                <a:ea typeface="Calibri" pitchFamily="34" charset="-122"/>
                <a:cs typeface="Calibri" pitchFamily="34" charset="-120"/>
              </a:rPr>
              <a:t>: set repo variable ETL_RUNNER=cpanel</a:t>
            </a:r>
            <a:endParaRPr lang="en-US" sz="1250" dirty="0"/>
          </a:p>
          <a:p>
            <a:pPr marL="152400" indent="-152400">
              <a:spcAft>
                <a:spcPts val="800"/>
              </a:spcAft>
              <a:buSzPct val="100000"/>
              <a:buChar char="•"/>
            </a:pPr>
            <a:r>
              <a:rPr lang="en-US" sz="1250" b="1" dirty="0">
                <a:solidFill>
                  <a:srgbClr val="1B2430"/>
                </a:solidFill>
                <a:latin typeface="Calibri" pitchFamily="34" charset="0"/>
                <a:ea typeface="Calibri" pitchFamily="34" charset="-122"/>
                <a:cs typeface="Calibri" pitchFamily="34" charset="-120"/>
              </a:rPr>
              <a:t>Both at once</a:t>
            </a:r>
            <a:r>
              <a:rPr lang="en-US" sz="1250" dirty="0">
                <a:solidFill>
                  <a:srgbClr val="5B6573"/>
                </a:solidFill>
                <a:latin typeface="Calibri" pitchFamily="34" charset="0"/>
                <a:ea typeface="Calibri" pitchFamily="34" charset="-122"/>
                <a:cs typeface="Calibri" pitchFamily="34" charset="-120"/>
              </a:rPr>
              <a:t> is safe: SKIP LOCKED keeps them apart</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WhatsApp bot loop (planned)</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The schema is ready; the webhook and bot flows wait for Meta Business verification</a:t>
            </a:r>
            <a:endParaRPr lang="en-US" sz="1600" dirty="0"/>
          </a:p>
        </p:txBody>
      </p:sp>
      <p:sp>
        <p:nvSpPr>
          <p:cNvPr id="4" name="Shape 2"/>
          <p:cNvSpPr/>
          <p:nvPr/>
        </p:nvSpPr>
        <p:spPr>
          <a:xfrm>
            <a:off x="548640" y="1691640"/>
            <a:ext cx="1911645" cy="1600200"/>
          </a:xfrm>
          <a:prstGeom prst="roundRect">
            <a:avLst>
              <a:gd name="adj" fmla="val 4571"/>
            </a:avLst>
          </a:prstGeom>
          <a:solidFill>
            <a:srgbClr val="F3F5F8"/>
          </a:solidFill>
          <a:ln/>
        </p:spPr>
      </p:sp>
      <p:sp>
        <p:nvSpPr>
          <p:cNvPr id="5" name="Shape 3"/>
          <p:cNvSpPr/>
          <p:nvPr/>
        </p:nvSpPr>
        <p:spPr>
          <a:xfrm>
            <a:off x="731520" y="1874520"/>
            <a:ext cx="475488" cy="475488"/>
          </a:xfrm>
          <a:prstGeom prst="ellipse">
            <a:avLst/>
          </a:prstGeom>
          <a:solidFill>
            <a:srgbClr val="3D5A80"/>
          </a:solidFill>
          <a:ln/>
        </p:spPr>
      </p:sp>
      <p:pic>
        <p:nvPicPr>
          <p:cNvPr id="6" name="Image 0" descr="preencoded.png">    </p:cNvPr>
          <p:cNvPicPr>
            <a:picLocks noChangeAspect="1"/>
          </p:cNvPicPr>
          <p:nvPr/>
        </p:nvPicPr>
        <p:blipFill>
          <a:blip r:embed="rId1"/>
          <a:stretch>
            <a:fillRect/>
          </a:stretch>
        </p:blipFill>
        <p:spPr>
          <a:xfrm>
            <a:off x="845637" y="1988637"/>
            <a:ext cx="247254" cy="247254"/>
          </a:xfrm>
          <a:prstGeom prst="rect">
            <a:avLst/>
          </a:prstGeom>
        </p:spPr>
      </p:pic>
      <p:sp>
        <p:nvSpPr>
          <p:cNvPr id="7" name="Text 4"/>
          <p:cNvSpPr txBox="1"/>
          <p:nvPr/>
        </p:nvSpPr>
        <p:spPr>
          <a:xfrm>
            <a:off x="1298448" y="1874520"/>
            <a:ext cx="1042965" cy="47548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Trader on WhatsApp</a:t>
            </a:r>
            <a:endParaRPr lang="en-US" sz="1350" dirty="0"/>
          </a:p>
        </p:txBody>
      </p:sp>
      <p:sp>
        <p:nvSpPr>
          <p:cNvPr id="8" name="Text 5"/>
          <p:cNvSpPr txBox="1"/>
          <p:nvPr/>
        </p:nvSpPr>
        <p:spPr>
          <a:xfrm>
            <a:off x="731520" y="2468880"/>
            <a:ext cx="1545885" cy="7315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Registers, reorders, asks for help</a:t>
            </a:r>
            <a:endParaRPr lang="en-US" sz="1200" dirty="0"/>
          </a:p>
        </p:txBody>
      </p:sp>
      <p:sp>
        <p:nvSpPr>
          <p:cNvPr id="9" name="Shape 6"/>
          <p:cNvSpPr/>
          <p:nvPr/>
        </p:nvSpPr>
        <p:spPr>
          <a:xfrm>
            <a:off x="2515149" y="2491740"/>
            <a:ext cx="274320" cy="0"/>
          </a:xfrm>
          <a:prstGeom prst="line">
            <a:avLst/>
          </a:prstGeom>
          <a:noFill/>
          <a:ln w="22225">
            <a:solidFill>
              <a:srgbClr val="5B6573"/>
            </a:solidFill>
            <a:prstDash val="solid"/>
            <a:tailEnd type="triangle"/>
          </a:ln>
        </p:spPr>
      </p:sp>
      <p:sp>
        <p:nvSpPr>
          <p:cNvPr id="10" name="Shape 7"/>
          <p:cNvSpPr/>
          <p:nvPr/>
        </p:nvSpPr>
        <p:spPr>
          <a:xfrm>
            <a:off x="2844333" y="1691640"/>
            <a:ext cx="1911645" cy="1600200"/>
          </a:xfrm>
          <a:prstGeom prst="roundRect">
            <a:avLst>
              <a:gd name="adj" fmla="val 4571"/>
            </a:avLst>
          </a:prstGeom>
          <a:solidFill>
            <a:srgbClr val="F3F5F8"/>
          </a:solidFill>
          <a:ln/>
        </p:spPr>
      </p:sp>
      <p:sp>
        <p:nvSpPr>
          <p:cNvPr id="11" name="Shape 8"/>
          <p:cNvSpPr/>
          <p:nvPr/>
        </p:nvSpPr>
        <p:spPr>
          <a:xfrm>
            <a:off x="3027213" y="1874520"/>
            <a:ext cx="475488" cy="475488"/>
          </a:xfrm>
          <a:prstGeom prst="ellipse">
            <a:avLst/>
          </a:prstGeom>
          <a:solidFill>
            <a:srgbClr val="44505E"/>
          </a:solidFill>
          <a:ln/>
        </p:spPr>
      </p:sp>
      <p:pic>
        <p:nvPicPr>
          <p:cNvPr id="12" name="Image 1" descr="preencoded.png">    </p:cNvPr>
          <p:cNvPicPr>
            <a:picLocks noChangeAspect="1"/>
          </p:cNvPicPr>
          <p:nvPr/>
        </p:nvPicPr>
        <p:blipFill>
          <a:blip r:embed="rId2"/>
          <a:stretch>
            <a:fillRect/>
          </a:stretch>
        </p:blipFill>
        <p:spPr>
          <a:xfrm>
            <a:off x="3141330" y="1988637"/>
            <a:ext cx="247254" cy="247254"/>
          </a:xfrm>
          <a:prstGeom prst="rect">
            <a:avLst/>
          </a:prstGeom>
        </p:spPr>
      </p:pic>
      <p:sp>
        <p:nvSpPr>
          <p:cNvPr id="13" name="Text 9"/>
          <p:cNvSpPr txBox="1"/>
          <p:nvPr/>
        </p:nvSpPr>
        <p:spPr>
          <a:xfrm>
            <a:off x="3594141" y="1874520"/>
            <a:ext cx="1042965" cy="47548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Meta Cloud API</a:t>
            </a:r>
            <a:endParaRPr lang="en-US" sz="1350" dirty="0"/>
          </a:p>
        </p:txBody>
      </p:sp>
      <p:sp>
        <p:nvSpPr>
          <p:cNvPr id="14" name="Text 10"/>
          <p:cNvSpPr txBox="1"/>
          <p:nvPr/>
        </p:nvSpPr>
        <p:spPr>
          <a:xfrm>
            <a:off x="3027213" y="2468880"/>
            <a:ext cx="1545885" cy="7315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Delivers messages and status updates</a:t>
            </a:r>
            <a:endParaRPr lang="en-US" sz="1200" dirty="0"/>
          </a:p>
        </p:txBody>
      </p:sp>
      <p:sp>
        <p:nvSpPr>
          <p:cNvPr id="15" name="Shape 11"/>
          <p:cNvSpPr/>
          <p:nvPr/>
        </p:nvSpPr>
        <p:spPr>
          <a:xfrm>
            <a:off x="4810841" y="2491740"/>
            <a:ext cx="274320" cy="0"/>
          </a:xfrm>
          <a:prstGeom prst="line">
            <a:avLst/>
          </a:prstGeom>
          <a:noFill/>
          <a:ln w="22225">
            <a:solidFill>
              <a:srgbClr val="5B6573"/>
            </a:solidFill>
            <a:prstDash val="solid"/>
            <a:tailEnd type="triangle"/>
          </a:ln>
        </p:spPr>
      </p:sp>
      <p:sp>
        <p:nvSpPr>
          <p:cNvPr id="16" name="Shape 12"/>
          <p:cNvSpPr/>
          <p:nvPr/>
        </p:nvSpPr>
        <p:spPr>
          <a:xfrm>
            <a:off x="5140025" y="1691640"/>
            <a:ext cx="1911645" cy="1600200"/>
          </a:xfrm>
          <a:prstGeom prst="roundRect">
            <a:avLst>
              <a:gd name="adj" fmla="val 4571"/>
            </a:avLst>
          </a:prstGeom>
          <a:solidFill>
            <a:srgbClr val="F3F5F8"/>
          </a:solidFill>
          <a:ln/>
        </p:spPr>
      </p:sp>
      <p:sp>
        <p:nvSpPr>
          <p:cNvPr id="17" name="Shape 13"/>
          <p:cNvSpPr/>
          <p:nvPr/>
        </p:nvSpPr>
        <p:spPr>
          <a:xfrm>
            <a:off x="5322905" y="1874520"/>
            <a:ext cx="475488" cy="475488"/>
          </a:xfrm>
          <a:prstGeom prst="ellipse">
            <a:avLst/>
          </a:prstGeom>
          <a:solidFill>
            <a:srgbClr val="1B2430"/>
          </a:solidFill>
          <a:ln/>
        </p:spPr>
      </p:sp>
      <p:pic>
        <p:nvPicPr>
          <p:cNvPr id="18" name="Image 2" descr="preencoded.png">    </p:cNvPr>
          <p:cNvPicPr>
            <a:picLocks noChangeAspect="1"/>
          </p:cNvPicPr>
          <p:nvPr/>
        </p:nvPicPr>
        <p:blipFill>
          <a:blip r:embed="rId3"/>
          <a:stretch>
            <a:fillRect/>
          </a:stretch>
        </p:blipFill>
        <p:spPr>
          <a:xfrm>
            <a:off x="5437022" y="1988637"/>
            <a:ext cx="247254" cy="247254"/>
          </a:xfrm>
          <a:prstGeom prst="rect">
            <a:avLst/>
          </a:prstGeom>
        </p:spPr>
      </p:pic>
      <p:sp>
        <p:nvSpPr>
          <p:cNvPr id="19" name="Text 14"/>
          <p:cNvSpPr txBox="1"/>
          <p:nvPr/>
        </p:nvSpPr>
        <p:spPr>
          <a:xfrm>
            <a:off x="5889833" y="1874520"/>
            <a:ext cx="1042965" cy="47548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Edge Function</a:t>
            </a:r>
            <a:endParaRPr lang="en-US" sz="1350" dirty="0"/>
          </a:p>
        </p:txBody>
      </p:sp>
      <p:sp>
        <p:nvSpPr>
          <p:cNvPr id="20" name="Text 15"/>
          <p:cNvSpPr txBox="1"/>
          <p:nvPr/>
        </p:nvSpPr>
        <p:spPr>
          <a:xfrm>
            <a:off x="5322905" y="2468880"/>
            <a:ext cx="1545885" cy="7315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Checks the signature, stores the event</a:t>
            </a:r>
            <a:endParaRPr lang="en-US" sz="1200" dirty="0"/>
          </a:p>
        </p:txBody>
      </p:sp>
      <p:sp>
        <p:nvSpPr>
          <p:cNvPr id="21" name="Shape 16"/>
          <p:cNvSpPr/>
          <p:nvPr/>
        </p:nvSpPr>
        <p:spPr>
          <a:xfrm>
            <a:off x="7106534" y="2491740"/>
            <a:ext cx="274320" cy="0"/>
          </a:xfrm>
          <a:prstGeom prst="line">
            <a:avLst/>
          </a:prstGeom>
          <a:noFill/>
          <a:ln w="22225">
            <a:solidFill>
              <a:srgbClr val="5B6573"/>
            </a:solidFill>
            <a:prstDash val="solid"/>
            <a:tailEnd type="triangle"/>
          </a:ln>
        </p:spPr>
      </p:sp>
      <p:sp>
        <p:nvSpPr>
          <p:cNvPr id="22" name="Shape 17"/>
          <p:cNvSpPr/>
          <p:nvPr/>
        </p:nvSpPr>
        <p:spPr>
          <a:xfrm>
            <a:off x="7435718" y="1691640"/>
            <a:ext cx="1911645" cy="1600200"/>
          </a:xfrm>
          <a:prstGeom prst="roundRect">
            <a:avLst>
              <a:gd name="adj" fmla="val 4571"/>
            </a:avLst>
          </a:prstGeom>
          <a:solidFill>
            <a:srgbClr val="F3F5F8"/>
          </a:solidFill>
          <a:ln/>
        </p:spPr>
      </p:sp>
      <p:sp>
        <p:nvSpPr>
          <p:cNvPr id="23" name="Shape 18"/>
          <p:cNvSpPr/>
          <p:nvPr/>
        </p:nvSpPr>
        <p:spPr>
          <a:xfrm>
            <a:off x="7618598" y="1874520"/>
            <a:ext cx="475488" cy="475488"/>
          </a:xfrm>
          <a:prstGeom prst="ellipse">
            <a:avLst/>
          </a:prstGeom>
          <a:solidFill>
            <a:srgbClr val="A0612B"/>
          </a:solidFill>
          <a:ln/>
        </p:spPr>
      </p:sp>
      <p:pic>
        <p:nvPicPr>
          <p:cNvPr id="24" name="Image 3" descr="preencoded.png">    </p:cNvPr>
          <p:cNvPicPr>
            <a:picLocks noChangeAspect="1"/>
          </p:cNvPicPr>
          <p:nvPr/>
        </p:nvPicPr>
        <p:blipFill>
          <a:blip r:embed="rId4"/>
          <a:stretch>
            <a:fillRect/>
          </a:stretch>
        </p:blipFill>
        <p:spPr>
          <a:xfrm>
            <a:off x="7732715" y="1988637"/>
            <a:ext cx="247254" cy="247254"/>
          </a:xfrm>
          <a:prstGeom prst="rect">
            <a:avLst/>
          </a:prstGeom>
        </p:spPr>
      </p:pic>
      <p:sp>
        <p:nvSpPr>
          <p:cNvPr id="25" name="Text 19"/>
          <p:cNvSpPr txBox="1"/>
          <p:nvPr/>
        </p:nvSpPr>
        <p:spPr>
          <a:xfrm>
            <a:off x="8185526" y="1874520"/>
            <a:ext cx="1042965" cy="47548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wa_events</a:t>
            </a:r>
            <a:endParaRPr lang="en-US" sz="1350" dirty="0"/>
          </a:p>
        </p:txBody>
      </p:sp>
      <p:sp>
        <p:nvSpPr>
          <p:cNvPr id="26" name="Text 20"/>
          <p:cNvSpPr txBox="1"/>
          <p:nvPr/>
        </p:nvSpPr>
        <p:spPr>
          <a:xfrm>
            <a:off x="7618598" y="2468880"/>
            <a:ext cx="1545885" cy="7315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Raw payload in bronze; a unique hash stops duplicates</a:t>
            </a:r>
            <a:endParaRPr lang="en-US" sz="1200" dirty="0"/>
          </a:p>
        </p:txBody>
      </p:sp>
      <p:sp>
        <p:nvSpPr>
          <p:cNvPr id="27" name="Shape 21"/>
          <p:cNvSpPr/>
          <p:nvPr/>
        </p:nvSpPr>
        <p:spPr>
          <a:xfrm>
            <a:off x="9402227" y="2491740"/>
            <a:ext cx="274320" cy="0"/>
          </a:xfrm>
          <a:prstGeom prst="line">
            <a:avLst/>
          </a:prstGeom>
          <a:noFill/>
          <a:ln w="22225">
            <a:solidFill>
              <a:srgbClr val="5B6573"/>
            </a:solidFill>
            <a:prstDash val="solid"/>
            <a:tailEnd type="triangle"/>
          </a:ln>
        </p:spPr>
      </p:sp>
      <p:sp>
        <p:nvSpPr>
          <p:cNvPr id="28" name="Shape 22"/>
          <p:cNvSpPr/>
          <p:nvPr/>
        </p:nvSpPr>
        <p:spPr>
          <a:xfrm>
            <a:off x="9731411" y="1691640"/>
            <a:ext cx="1911645" cy="1600200"/>
          </a:xfrm>
          <a:prstGeom prst="roundRect">
            <a:avLst>
              <a:gd name="adj" fmla="val 4571"/>
            </a:avLst>
          </a:prstGeom>
          <a:solidFill>
            <a:srgbClr val="F3F5F8"/>
          </a:solidFill>
          <a:ln/>
        </p:spPr>
      </p:sp>
      <p:sp>
        <p:nvSpPr>
          <p:cNvPr id="29" name="Shape 23"/>
          <p:cNvSpPr/>
          <p:nvPr/>
        </p:nvSpPr>
        <p:spPr>
          <a:xfrm>
            <a:off x="9914291" y="1874520"/>
            <a:ext cx="475488" cy="475488"/>
          </a:xfrm>
          <a:prstGeom prst="ellipse">
            <a:avLst/>
          </a:prstGeom>
          <a:solidFill>
            <a:srgbClr val="5B4B99"/>
          </a:solidFill>
          <a:ln/>
        </p:spPr>
      </p:sp>
      <p:pic>
        <p:nvPicPr>
          <p:cNvPr id="30" name="Image 4" descr="preencoded.png">    </p:cNvPr>
          <p:cNvPicPr>
            <a:picLocks noChangeAspect="1"/>
          </p:cNvPicPr>
          <p:nvPr/>
        </p:nvPicPr>
        <p:blipFill>
          <a:blip r:embed="rId5"/>
          <a:stretch>
            <a:fillRect/>
          </a:stretch>
        </p:blipFill>
        <p:spPr>
          <a:xfrm>
            <a:off x="10028408" y="1988637"/>
            <a:ext cx="247254" cy="247254"/>
          </a:xfrm>
          <a:prstGeom prst="rect">
            <a:avLst/>
          </a:prstGeom>
        </p:spPr>
      </p:pic>
      <p:sp>
        <p:nvSpPr>
          <p:cNvPr id="31" name="Text 24"/>
          <p:cNvSpPr txBox="1"/>
          <p:nvPr/>
        </p:nvSpPr>
        <p:spPr>
          <a:xfrm>
            <a:off x="10481219" y="1874520"/>
            <a:ext cx="1042965" cy="47548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crm</a:t>
            </a:r>
            <a:endParaRPr lang="en-US" sz="1350" dirty="0"/>
          </a:p>
        </p:txBody>
      </p:sp>
      <p:sp>
        <p:nvSpPr>
          <p:cNvPr id="32" name="Text 25"/>
          <p:cNvSpPr txBox="1"/>
          <p:nvPr/>
        </p:nvSpPr>
        <p:spPr>
          <a:xfrm>
            <a:off x="9914291" y="2468880"/>
            <a:ext cx="1545885" cy="7315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Conversations (bot state), messages, orders</a:t>
            </a:r>
            <a:endParaRPr lang="en-US" sz="1200" dirty="0"/>
          </a:p>
        </p:txBody>
      </p:sp>
      <p:sp>
        <p:nvSpPr>
          <p:cNvPr id="33" name="Text 26"/>
          <p:cNvSpPr txBox="1"/>
          <p:nvPr/>
        </p:nvSpPr>
        <p:spPr>
          <a:xfrm>
            <a:off x="548640" y="3566160"/>
            <a:ext cx="5486400" cy="3200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Bot flow, kept in crm.conversations</a:t>
            </a:r>
            <a:endParaRPr lang="en-US" sz="1400" dirty="0"/>
          </a:p>
        </p:txBody>
      </p:sp>
      <p:sp>
        <p:nvSpPr>
          <p:cNvPr id="34" name="Shape 27"/>
          <p:cNvSpPr/>
          <p:nvPr/>
        </p:nvSpPr>
        <p:spPr>
          <a:xfrm>
            <a:off x="548640" y="3977640"/>
            <a:ext cx="1365460" cy="502920"/>
          </a:xfrm>
          <a:prstGeom prst="roundRect">
            <a:avLst>
              <a:gd name="adj" fmla="val 18182"/>
            </a:avLst>
          </a:prstGeom>
          <a:solidFill>
            <a:srgbClr val="5B4B99"/>
          </a:solidFill>
          <a:ln/>
        </p:spPr>
      </p:sp>
      <p:sp>
        <p:nvSpPr>
          <p:cNvPr id="35" name="Text 28"/>
          <p:cNvSpPr txBox="1"/>
          <p:nvPr/>
        </p:nvSpPr>
        <p:spPr>
          <a:xfrm>
            <a:off x="548640" y="3977640"/>
            <a:ext cx="13654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a:t>
            </a:r>
            <a:endParaRPr lang="en-US" sz="1300" dirty="0"/>
          </a:p>
        </p:txBody>
      </p:sp>
      <p:sp>
        <p:nvSpPr>
          <p:cNvPr id="36" name="Shape 29"/>
          <p:cNvSpPr/>
          <p:nvPr/>
        </p:nvSpPr>
        <p:spPr>
          <a:xfrm>
            <a:off x="1950676" y="4229100"/>
            <a:ext cx="182880" cy="0"/>
          </a:xfrm>
          <a:prstGeom prst="line">
            <a:avLst/>
          </a:prstGeom>
          <a:noFill/>
          <a:ln w="19050">
            <a:solidFill>
              <a:srgbClr val="5B6573"/>
            </a:solidFill>
            <a:prstDash val="solid"/>
            <a:tailEnd type="triangle"/>
          </a:ln>
        </p:spPr>
      </p:sp>
      <p:sp>
        <p:nvSpPr>
          <p:cNvPr id="37" name="Shape 30"/>
          <p:cNvSpPr/>
          <p:nvPr/>
        </p:nvSpPr>
        <p:spPr>
          <a:xfrm>
            <a:off x="2170132" y="3977640"/>
            <a:ext cx="1365460" cy="502920"/>
          </a:xfrm>
          <a:prstGeom prst="roundRect">
            <a:avLst>
              <a:gd name="adj" fmla="val 18182"/>
            </a:avLst>
          </a:prstGeom>
          <a:solidFill>
            <a:srgbClr val="5B4B99"/>
          </a:solidFill>
          <a:ln/>
        </p:spPr>
      </p:sp>
      <p:sp>
        <p:nvSpPr>
          <p:cNvPr id="38" name="Text 31"/>
          <p:cNvSpPr txBox="1"/>
          <p:nvPr/>
        </p:nvSpPr>
        <p:spPr>
          <a:xfrm>
            <a:off x="2170132" y="3977640"/>
            <a:ext cx="13654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consent</a:t>
            </a:r>
            <a:endParaRPr lang="en-US" sz="1300" dirty="0"/>
          </a:p>
        </p:txBody>
      </p:sp>
      <p:sp>
        <p:nvSpPr>
          <p:cNvPr id="39" name="Shape 32"/>
          <p:cNvSpPr/>
          <p:nvPr/>
        </p:nvSpPr>
        <p:spPr>
          <a:xfrm>
            <a:off x="3572169" y="4229100"/>
            <a:ext cx="182880" cy="0"/>
          </a:xfrm>
          <a:prstGeom prst="line">
            <a:avLst/>
          </a:prstGeom>
          <a:noFill/>
          <a:ln w="19050">
            <a:solidFill>
              <a:srgbClr val="5B6573"/>
            </a:solidFill>
            <a:prstDash val="solid"/>
            <a:tailEnd type="triangle"/>
          </a:ln>
        </p:spPr>
      </p:sp>
      <p:sp>
        <p:nvSpPr>
          <p:cNvPr id="40" name="Shape 33"/>
          <p:cNvSpPr/>
          <p:nvPr/>
        </p:nvSpPr>
        <p:spPr>
          <a:xfrm>
            <a:off x="3791625" y="3977640"/>
            <a:ext cx="1365460" cy="502920"/>
          </a:xfrm>
          <a:prstGeom prst="roundRect">
            <a:avLst>
              <a:gd name="adj" fmla="val 18182"/>
            </a:avLst>
          </a:prstGeom>
          <a:solidFill>
            <a:srgbClr val="5B4B99"/>
          </a:solidFill>
          <a:ln/>
        </p:spPr>
      </p:sp>
      <p:sp>
        <p:nvSpPr>
          <p:cNvPr id="41" name="Text 34"/>
          <p:cNvSpPr txBox="1"/>
          <p:nvPr/>
        </p:nvSpPr>
        <p:spPr>
          <a:xfrm>
            <a:off x="3791625" y="3977640"/>
            <a:ext cx="13654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register</a:t>
            </a:r>
            <a:endParaRPr lang="en-US" sz="1300" dirty="0"/>
          </a:p>
        </p:txBody>
      </p:sp>
      <p:sp>
        <p:nvSpPr>
          <p:cNvPr id="42" name="Shape 35"/>
          <p:cNvSpPr/>
          <p:nvPr/>
        </p:nvSpPr>
        <p:spPr>
          <a:xfrm>
            <a:off x="5193661" y="4229100"/>
            <a:ext cx="182880" cy="0"/>
          </a:xfrm>
          <a:prstGeom prst="line">
            <a:avLst/>
          </a:prstGeom>
          <a:noFill/>
          <a:ln w="19050">
            <a:solidFill>
              <a:srgbClr val="5B6573"/>
            </a:solidFill>
            <a:prstDash val="solid"/>
            <a:tailEnd type="triangle"/>
          </a:ln>
        </p:spPr>
      </p:sp>
      <p:sp>
        <p:nvSpPr>
          <p:cNvPr id="43" name="Shape 36"/>
          <p:cNvSpPr/>
          <p:nvPr/>
        </p:nvSpPr>
        <p:spPr>
          <a:xfrm>
            <a:off x="5413117" y="3977640"/>
            <a:ext cx="1365460" cy="502920"/>
          </a:xfrm>
          <a:prstGeom prst="roundRect">
            <a:avLst>
              <a:gd name="adj" fmla="val 18182"/>
            </a:avLst>
          </a:prstGeom>
          <a:solidFill>
            <a:srgbClr val="5B4B99"/>
          </a:solidFill>
          <a:ln/>
        </p:spPr>
      </p:sp>
      <p:sp>
        <p:nvSpPr>
          <p:cNvPr id="44" name="Text 37"/>
          <p:cNvSpPr txBox="1"/>
          <p:nvPr/>
        </p:nvSpPr>
        <p:spPr>
          <a:xfrm>
            <a:off x="5413117" y="3977640"/>
            <a:ext cx="13654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trader code</a:t>
            </a:r>
            <a:endParaRPr lang="en-US" sz="1300" dirty="0"/>
          </a:p>
        </p:txBody>
      </p:sp>
      <p:sp>
        <p:nvSpPr>
          <p:cNvPr id="45" name="Shape 38"/>
          <p:cNvSpPr/>
          <p:nvPr/>
        </p:nvSpPr>
        <p:spPr>
          <a:xfrm>
            <a:off x="6815154" y="4229100"/>
            <a:ext cx="182880" cy="0"/>
          </a:xfrm>
          <a:prstGeom prst="line">
            <a:avLst/>
          </a:prstGeom>
          <a:noFill/>
          <a:ln w="19050">
            <a:solidFill>
              <a:srgbClr val="5B6573"/>
            </a:solidFill>
            <a:prstDash val="solid"/>
            <a:tailEnd type="triangle"/>
          </a:ln>
        </p:spPr>
      </p:sp>
      <p:sp>
        <p:nvSpPr>
          <p:cNvPr id="46" name="Shape 39"/>
          <p:cNvSpPr/>
          <p:nvPr/>
        </p:nvSpPr>
        <p:spPr>
          <a:xfrm>
            <a:off x="7034610" y="3977640"/>
            <a:ext cx="1365460" cy="502920"/>
          </a:xfrm>
          <a:prstGeom prst="roundRect">
            <a:avLst>
              <a:gd name="adj" fmla="val 18182"/>
            </a:avLst>
          </a:prstGeom>
          <a:solidFill>
            <a:srgbClr val="5B4B99"/>
          </a:solidFill>
          <a:ln/>
        </p:spPr>
      </p:sp>
      <p:sp>
        <p:nvSpPr>
          <p:cNvPr id="47" name="Text 40"/>
          <p:cNvSpPr txBox="1"/>
          <p:nvPr/>
        </p:nvSpPr>
        <p:spPr>
          <a:xfrm>
            <a:off x="7034610" y="3977640"/>
            <a:ext cx="13654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menu</a:t>
            </a:r>
            <a:endParaRPr lang="en-US" sz="1300" dirty="0"/>
          </a:p>
        </p:txBody>
      </p:sp>
      <p:sp>
        <p:nvSpPr>
          <p:cNvPr id="48" name="Shape 41"/>
          <p:cNvSpPr/>
          <p:nvPr/>
        </p:nvSpPr>
        <p:spPr>
          <a:xfrm>
            <a:off x="8436646" y="4229100"/>
            <a:ext cx="182880" cy="0"/>
          </a:xfrm>
          <a:prstGeom prst="line">
            <a:avLst/>
          </a:prstGeom>
          <a:noFill/>
          <a:ln w="19050">
            <a:solidFill>
              <a:srgbClr val="5B6573"/>
            </a:solidFill>
            <a:prstDash val="solid"/>
            <a:tailEnd type="triangle"/>
          </a:ln>
        </p:spPr>
      </p:sp>
      <p:sp>
        <p:nvSpPr>
          <p:cNvPr id="49" name="Shape 42"/>
          <p:cNvSpPr/>
          <p:nvPr/>
        </p:nvSpPr>
        <p:spPr>
          <a:xfrm>
            <a:off x="8656102" y="3977640"/>
            <a:ext cx="1365460" cy="502920"/>
          </a:xfrm>
          <a:prstGeom prst="roundRect">
            <a:avLst>
              <a:gd name="adj" fmla="val 18182"/>
            </a:avLst>
          </a:prstGeom>
          <a:solidFill>
            <a:srgbClr val="5B4B99"/>
          </a:solidFill>
          <a:ln/>
        </p:spPr>
      </p:sp>
      <p:sp>
        <p:nvSpPr>
          <p:cNvPr id="50" name="Text 43"/>
          <p:cNvSpPr txBox="1"/>
          <p:nvPr/>
        </p:nvSpPr>
        <p:spPr>
          <a:xfrm>
            <a:off x="8656102" y="3977640"/>
            <a:ext cx="13654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reorder</a:t>
            </a:r>
            <a:endParaRPr lang="en-US" sz="1300" dirty="0"/>
          </a:p>
        </p:txBody>
      </p:sp>
      <p:sp>
        <p:nvSpPr>
          <p:cNvPr id="51" name="Shape 44"/>
          <p:cNvSpPr/>
          <p:nvPr/>
        </p:nvSpPr>
        <p:spPr>
          <a:xfrm>
            <a:off x="10058139" y="4229100"/>
            <a:ext cx="182880" cy="0"/>
          </a:xfrm>
          <a:prstGeom prst="line">
            <a:avLst/>
          </a:prstGeom>
          <a:noFill/>
          <a:ln w="19050">
            <a:solidFill>
              <a:srgbClr val="5B6573"/>
            </a:solidFill>
            <a:prstDash val="solid"/>
            <a:tailEnd type="triangle"/>
          </a:ln>
        </p:spPr>
      </p:sp>
      <p:sp>
        <p:nvSpPr>
          <p:cNvPr id="52" name="Shape 45"/>
          <p:cNvSpPr/>
          <p:nvPr/>
        </p:nvSpPr>
        <p:spPr>
          <a:xfrm>
            <a:off x="10277595" y="3977640"/>
            <a:ext cx="1365460" cy="502920"/>
          </a:xfrm>
          <a:prstGeom prst="roundRect">
            <a:avLst>
              <a:gd name="adj" fmla="val 18182"/>
            </a:avLst>
          </a:prstGeom>
          <a:solidFill>
            <a:srgbClr val="44505E"/>
          </a:solidFill>
          <a:ln/>
        </p:spPr>
      </p:sp>
      <p:sp>
        <p:nvSpPr>
          <p:cNvPr id="53" name="Text 46"/>
          <p:cNvSpPr txBox="1"/>
          <p:nvPr/>
        </p:nvSpPr>
        <p:spPr>
          <a:xfrm>
            <a:off x="10277595" y="3977640"/>
            <a:ext cx="13654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handover</a:t>
            </a:r>
            <a:endParaRPr lang="en-US" sz="1300" dirty="0"/>
          </a:p>
        </p:txBody>
      </p:sp>
      <p:sp>
        <p:nvSpPr>
          <p:cNvPr id="54" name="Shape 47"/>
          <p:cNvSpPr/>
          <p:nvPr/>
        </p:nvSpPr>
        <p:spPr>
          <a:xfrm>
            <a:off x="548640" y="4754880"/>
            <a:ext cx="5410048" cy="1508760"/>
          </a:xfrm>
          <a:prstGeom prst="roundRect">
            <a:avLst>
              <a:gd name="adj" fmla="val 4848"/>
            </a:avLst>
          </a:prstGeom>
          <a:solidFill>
            <a:srgbClr val="F3F5F8"/>
          </a:solidFill>
          <a:ln/>
        </p:spPr>
      </p:sp>
      <p:sp>
        <p:nvSpPr>
          <p:cNvPr id="55" name="Text 48"/>
          <p:cNvSpPr txBox="1"/>
          <p:nvPr/>
        </p:nvSpPr>
        <p:spPr>
          <a:xfrm>
            <a:off x="749808" y="4901184"/>
            <a:ext cx="5007712" cy="3200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Messaging rules</a:t>
            </a:r>
            <a:endParaRPr lang="en-US" sz="1400" dirty="0"/>
          </a:p>
        </p:txBody>
      </p:sp>
      <p:sp>
        <p:nvSpPr>
          <p:cNvPr id="56" name="Text 49"/>
          <p:cNvSpPr txBox="1"/>
          <p:nvPr/>
        </p:nvSpPr>
        <p:spPr>
          <a:xfrm>
            <a:off x="749808" y="5266944"/>
            <a:ext cx="5007712" cy="905256"/>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Outside the 24-hour service window, only Meta-approved templates can be sent. Templates are tracked in crm.wa_templates: five English drafts so far, Shona to follow.</a:t>
            </a:r>
            <a:endParaRPr lang="en-US" sz="1250" dirty="0"/>
          </a:p>
        </p:txBody>
      </p:sp>
      <p:sp>
        <p:nvSpPr>
          <p:cNvPr id="57" name="Shape 50"/>
          <p:cNvSpPr/>
          <p:nvPr/>
        </p:nvSpPr>
        <p:spPr>
          <a:xfrm>
            <a:off x="6233008" y="4754880"/>
            <a:ext cx="5410048" cy="1508760"/>
          </a:xfrm>
          <a:prstGeom prst="roundRect">
            <a:avLst>
              <a:gd name="adj" fmla="val 4848"/>
            </a:avLst>
          </a:prstGeom>
          <a:solidFill>
            <a:srgbClr val="F3F5F8"/>
          </a:solidFill>
          <a:ln/>
        </p:spPr>
      </p:sp>
      <p:sp>
        <p:nvSpPr>
          <p:cNvPr id="58" name="Text 51"/>
          <p:cNvSpPr txBox="1"/>
          <p:nvPr/>
        </p:nvSpPr>
        <p:spPr>
          <a:xfrm>
            <a:off x="6434176" y="4901184"/>
            <a:ext cx="5007712" cy="3200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When an order becomes revenue</a:t>
            </a:r>
            <a:endParaRPr lang="en-US" sz="1400" dirty="0"/>
          </a:p>
        </p:txBody>
      </p:sp>
      <p:sp>
        <p:nvSpPr>
          <p:cNvPr id="59" name="Text 52"/>
          <p:cNvSpPr txBox="1"/>
          <p:nvPr/>
        </p:nvSpPr>
        <p:spPr>
          <a:xfrm>
            <a:off x="6434176" y="5266944"/>
            <a:ext cx="5007712" cy="905256"/>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Bot orders move requested → confirmed → fulfilled. They count as revenue only once fulfilled and their invoice lines reach gold.fact_sales with the order id.</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4415" cy="658368"/>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Security: who can see and change what</a:t>
            </a:r>
            <a:endParaRPr lang="en-US" sz="3200" dirty="0"/>
          </a:p>
        </p:txBody>
      </p:sp>
      <p:sp>
        <p:nvSpPr>
          <p:cNvPr id="3" name="Text 1"/>
          <p:cNvSpPr txBox="1"/>
          <p:nvPr/>
        </p:nvSpPr>
        <p:spPr>
          <a:xfrm>
            <a:off x="548640" y="1005840"/>
            <a:ext cx="11094415" cy="384048"/>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Database logins control what software can do; app roles control what people see</a:t>
            </a:r>
            <a:endParaRPr lang="en-US" sz="1600" dirty="0"/>
          </a:p>
        </p:txBody>
      </p:sp>
      <p:sp>
        <p:nvSpPr>
          <p:cNvPr id="4" name="Shape 2"/>
          <p:cNvSpPr/>
          <p:nvPr/>
        </p:nvSpPr>
        <p:spPr>
          <a:xfrm>
            <a:off x="548640" y="1691640"/>
            <a:ext cx="5486400" cy="3429000"/>
          </a:xfrm>
          <a:prstGeom prst="roundRect">
            <a:avLst>
              <a:gd name="adj" fmla="val 2133"/>
            </a:avLst>
          </a:prstGeom>
          <a:solidFill>
            <a:srgbClr val="F3F5F8"/>
          </a:solidFill>
          <a:ln/>
        </p:spPr>
      </p:sp>
      <p:sp>
        <p:nvSpPr>
          <p:cNvPr id="5" name="Shape 3"/>
          <p:cNvSpPr/>
          <p:nvPr/>
        </p:nvSpPr>
        <p:spPr>
          <a:xfrm>
            <a:off x="6309360" y="1691640"/>
            <a:ext cx="5333695" cy="3429000"/>
          </a:xfrm>
          <a:prstGeom prst="roundRect">
            <a:avLst>
              <a:gd name="adj" fmla="val 2133"/>
            </a:avLst>
          </a:prstGeom>
          <a:solidFill>
            <a:srgbClr val="F3F5F8"/>
          </a:solidFill>
          <a:ln/>
        </p:spPr>
      </p:sp>
      <p:sp>
        <p:nvSpPr>
          <p:cNvPr id="6" name="Text 4"/>
          <p:cNvSpPr txBox="1"/>
          <p:nvPr/>
        </p:nvSpPr>
        <p:spPr>
          <a:xfrm>
            <a:off x="777240" y="1837944"/>
            <a:ext cx="5029200" cy="365760"/>
          </a:xfrm>
          <a:prstGeom prst="rect">
            <a:avLst/>
          </a:prstGeom>
          <a:noFill/>
          <a:ln/>
        </p:spPr>
        <p:txBody>
          <a:bodyPr wrap="square" lIns="0" tIns="0" rIns="0" bIns="0" rtlCol="0" anchor="t"/>
          <a:lstStyle/>
          <a:p>
            <a:pPr indent="0" marL="0">
              <a:buNone/>
            </a:pPr>
            <a:r>
              <a:rPr lang="en-US" sz="1600" b="1" dirty="0">
                <a:solidFill>
                  <a:srgbClr val="1B2430"/>
                </a:solidFill>
                <a:latin typeface="Calibri" pitchFamily="34" charset="0"/>
                <a:ea typeface="Calibri" pitchFamily="34" charset="-122"/>
                <a:cs typeface="Calibri" pitchFamily="34" charset="-120"/>
              </a:rPr>
              <a:t>Database logins</a:t>
            </a:r>
            <a:endParaRPr lang="en-US" sz="1600" dirty="0"/>
          </a:p>
        </p:txBody>
      </p:sp>
      <p:sp>
        <p:nvSpPr>
          <p:cNvPr id="7" name="Text 5"/>
          <p:cNvSpPr txBox="1"/>
          <p:nvPr/>
        </p:nvSpPr>
        <p:spPr>
          <a:xfrm>
            <a:off x="6537960" y="1837944"/>
            <a:ext cx="4876495" cy="365760"/>
          </a:xfrm>
          <a:prstGeom prst="rect">
            <a:avLst/>
          </a:prstGeom>
          <a:noFill/>
          <a:ln/>
        </p:spPr>
        <p:txBody>
          <a:bodyPr wrap="square" lIns="0" tIns="0" rIns="0" bIns="0" rtlCol="0" anchor="t"/>
          <a:lstStyle/>
          <a:p>
            <a:pPr indent="0" marL="0">
              <a:buNone/>
            </a:pPr>
            <a:r>
              <a:rPr lang="en-US" sz="1600" b="1" dirty="0">
                <a:solidFill>
                  <a:srgbClr val="1B2430"/>
                </a:solidFill>
                <a:latin typeface="Calibri" pitchFamily="34" charset="0"/>
                <a:ea typeface="Calibri" pitchFamily="34" charset="-122"/>
                <a:cs typeface="Calibri" pitchFamily="34" charset="-120"/>
              </a:rPr>
              <a:t>App roles (row-level security)</a:t>
            </a:r>
            <a:endParaRPr lang="en-US" sz="1600" dirty="0"/>
          </a:p>
        </p:txBody>
      </p:sp>
      <p:sp>
        <p:nvSpPr>
          <p:cNvPr id="8" name="Shape 6"/>
          <p:cNvSpPr/>
          <p:nvPr/>
        </p:nvSpPr>
        <p:spPr>
          <a:xfrm>
            <a:off x="777240" y="2359152"/>
            <a:ext cx="457200" cy="457200"/>
          </a:xfrm>
          <a:prstGeom prst="ellipse">
            <a:avLst/>
          </a:prstGeom>
          <a:solidFill>
            <a:srgbClr val="B23A3A"/>
          </a:solidFill>
          <a:ln/>
        </p:spPr>
      </p:sp>
      <p:pic>
        <p:nvPicPr>
          <p:cNvPr id="9" name="Image 0" descr="preencoded.png">    </p:cNvPr>
          <p:cNvPicPr>
            <a:picLocks noChangeAspect="1"/>
          </p:cNvPicPr>
          <p:nvPr/>
        </p:nvPicPr>
        <p:blipFill>
          <a:blip r:embed="rId1"/>
          <a:stretch>
            <a:fillRect/>
          </a:stretch>
        </p:blipFill>
        <p:spPr>
          <a:xfrm>
            <a:off x="886968" y="2468880"/>
            <a:ext cx="237744" cy="237744"/>
          </a:xfrm>
          <a:prstGeom prst="rect">
            <a:avLst/>
          </a:prstGeom>
        </p:spPr>
      </p:pic>
      <p:sp>
        <p:nvSpPr>
          <p:cNvPr id="10" name="Text 7"/>
          <p:cNvSpPr txBox="1"/>
          <p:nvPr/>
        </p:nvSpPr>
        <p:spPr>
          <a:xfrm>
            <a:off x="1371600" y="2313432"/>
            <a:ext cx="1417320" cy="5486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anon</a:t>
            </a:r>
            <a:endParaRPr lang="en-US" sz="1350" dirty="0"/>
          </a:p>
        </p:txBody>
      </p:sp>
      <p:sp>
        <p:nvSpPr>
          <p:cNvPr id="11" name="Text 8"/>
          <p:cNvSpPr txBox="1"/>
          <p:nvPr/>
        </p:nvSpPr>
        <p:spPr>
          <a:xfrm>
            <a:off x="2788920" y="2313432"/>
            <a:ext cx="3063240" cy="54864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Not signed in: no access to anything.</a:t>
            </a:r>
            <a:endParaRPr lang="en-US" sz="1200" dirty="0"/>
          </a:p>
        </p:txBody>
      </p:sp>
      <p:sp>
        <p:nvSpPr>
          <p:cNvPr id="12" name="Shape 9"/>
          <p:cNvSpPr/>
          <p:nvPr/>
        </p:nvSpPr>
        <p:spPr>
          <a:xfrm>
            <a:off x="777240" y="3054096"/>
            <a:ext cx="457200" cy="457200"/>
          </a:xfrm>
          <a:prstGeom prst="ellipse">
            <a:avLst/>
          </a:prstGeom>
          <a:solidFill>
            <a:srgbClr val="1F7A5C"/>
          </a:solidFill>
          <a:ln/>
        </p:spPr>
      </p:sp>
      <p:pic>
        <p:nvPicPr>
          <p:cNvPr id="13" name="Image 1" descr="preencoded.png">    </p:cNvPr>
          <p:cNvPicPr>
            <a:picLocks noChangeAspect="1"/>
          </p:cNvPicPr>
          <p:nvPr/>
        </p:nvPicPr>
        <p:blipFill>
          <a:blip r:embed="rId2"/>
          <a:stretch>
            <a:fillRect/>
          </a:stretch>
        </p:blipFill>
        <p:spPr>
          <a:xfrm>
            <a:off x="886968" y="3163824"/>
            <a:ext cx="237744" cy="237744"/>
          </a:xfrm>
          <a:prstGeom prst="rect">
            <a:avLst/>
          </a:prstGeom>
        </p:spPr>
      </p:pic>
      <p:sp>
        <p:nvSpPr>
          <p:cNvPr id="14" name="Text 10"/>
          <p:cNvSpPr txBox="1"/>
          <p:nvPr/>
        </p:nvSpPr>
        <p:spPr>
          <a:xfrm>
            <a:off x="1371600" y="3008376"/>
            <a:ext cx="1417320" cy="5486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authenticated</a:t>
            </a:r>
            <a:endParaRPr lang="en-US" sz="1350" dirty="0"/>
          </a:p>
        </p:txBody>
      </p:sp>
      <p:sp>
        <p:nvSpPr>
          <p:cNvPr id="15" name="Text 11"/>
          <p:cNvSpPr txBox="1"/>
          <p:nvPr/>
        </p:nvSpPr>
        <p:spPr>
          <a:xfrm>
            <a:off x="2788920" y="3008376"/>
            <a:ext cx="3063240" cy="54864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Signed-in staff: reads filtered by RLS, plus narrow writes such as logging a call.</a:t>
            </a:r>
            <a:endParaRPr lang="en-US" sz="1200" dirty="0"/>
          </a:p>
        </p:txBody>
      </p:sp>
      <p:sp>
        <p:nvSpPr>
          <p:cNvPr id="16" name="Shape 12"/>
          <p:cNvSpPr/>
          <p:nvPr/>
        </p:nvSpPr>
        <p:spPr>
          <a:xfrm>
            <a:off x="777240" y="3749040"/>
            <a:ext cx="457200" cy="457200"/>
          </a:xfrm>
          <a:prstGeom prst="ellipse">
            <a:avLst/>
          </a:prstGeom>
          <a:solidFill>
            <a:srgbClr val="1B2430"/>
          </a:solidFill>
          <a:ln/>
        </p:spPr>
      </p:sp>
      <p:pic>
        <p:nvPicPr>
          <p:cNvPr id="17" name="Image 2" descr="preencoded.png">    </p:cNvPr>
          <p:cNvPicPr>
            <a:picLocks noChangeAspect="1"/>
          </p:cNvPicPr>
          <p:nvPr/>
        </p:nvPicPr>
        <p:blipFill>
          <a:blip r:embed="rId3"/>
          <a:stretch>
            <a:fillRect/>
          </a:stretch>
        </p:blipFill>
        <p:spPr>
          <a:xfrm>
            <a:off x="886968" y="3858768"/>
            <a:ext cx="237744" cy="237744"/>
          </a:xfrm>
          <a:prstGeom prst="rect">
            <a:avLst/>
          </a:prstGeom>
        </p:spPr>
      </p:pic>
      <p:sp>
        <p:nvSpPr>
          <p:cNvPr id="18" name="Text 13"/>
          <p:cNvSpPr txBox="1"/>
          <p:nvPr/>
        </p:nvSpPr>
        <p:spPr>
          <a:xfrm>
            <a:off x="1371600" y="3703320"/>
            <a:ext cx="1417320" cy="5486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service_role</a:t>
            </a:r>
            <a:endParaRPr lang="en-US" sz="1350" dirty="0"/>
          </a:p>
        </p:txBody>
      </p:sp>
      <p:sp>
        <p:nvSpPr>
          <p:cNvPr id="19" name="Text 14"/>
          <p:cNvSpPr txBox="1"/>
          <p:nvPr/>
        </p:nvSpPr>
        <p:spPr>
          <a:xfrm>
            <a:off x="2788920" y="3703320"/>
            <a:ext cx="3063240" cy="54864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The backend's key: full access, never in the browser.</a:t>
            </a:r>
            <a:endParaRPr lang="en-US" sz="1200" dirty="0"/>
          </a:p>
        </p:txBody>
      </p:sp>
      <p:sp>
        <p:nvSpPr>
          <p:cNvPr id="20" name="Shape 15"/>
          <p:cNvSpPr/>
          <p:nvPr/>
        </p:nvSpPr>
        <p:spPr>
          <a:xfrm>
            <a:off x="777240" y="4443984"/>
            <a:ext cx="457200" cy="457200"/>
          </a:xfrm>
          <a:prstGeom prst="ellipse">
            <a:avLst/>
          </a:prstGeom>
          <a:solidFill>
            <a:srgbClr val="A0612B"/>
          </a:solidFill>
          <a:ln/>
        </p:spPr>
      </p:sp>
      <p:pic>
        <p:nvPicPr>
          <p:cNvPr id="21" name="Image 3" descr="preencoded.png">    </p:cNvPr>
          <p:cNvPicPr>
            <a:picLocks noChangeAspect="1"/>
          </p:cNvPicPr>
          <p:nvPr/>
        </p:nvPicPr>
        <p:blipFill>
          <a:blip r:embed="rId4"/>
          <a:stretch>
            <a:fillRect/>
          </a:stretch>
        </p:blipFill>
        <p:spPr>
          <a:xfrm>
            <a:off x="886968" y="4553712"/>
            <a:ext cx="237744" cy="237744"/>
          </a:xfrm>
          <a:prstGeom prst="rect">
            <a:avLst/>
          </a:prstGeom>
        </p:spPr>
      </p:pic>
      <p:sp>
        <p:nvSpPr>
          <p:cNvPr id="22" name="Text 16"/>
          <p:cNvSpPr txBox="1"/>
          <p:nvPr/>
        </p:nvSpPr>
        <p:spPr>
          <a:xfrm>
            <a:off x="1371600" y="4398264"/>
            <a:ext cx="1417320" cy="5486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etl_worker</a:t>
            </a:r>
            <a:endParaRPr lang="en-US" sz="1350" dirty="0"/>
          </a:p>
        </p:txBody>
      </p:sp>
      <p:sp>
        <p:nvSpPr>
          <p:cNvPr id="23" name="Text 17"/>
          <p:cNvSpPr txBox="1"/>
          <p:nvPr/>
        </p:nvSpPr>
        <p:spPr>
          <a:xfrm>
            <a:off x="2788920" y="4398264"/>
            <a:ext cx="3063240" cy="54864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The pipeline's login: bypasses RLS to move data; can't change the schema or see logins.</a:t>
            </a:r>
            <a:endParaRPr lang="en-US" sz="1200" dirty="0"/>
          </a:p>
        </p:txBody>
      </p:sp>
      <p:sp>
        <p:nvSpPr>
          <p:cNvPr id="24" name="Shape 18"/>
          <p:cNvSpPr/>
          <p:nvPr/>
        </p:nvSpPr>
        <p:spPr>
          <a:xfrm>
            <a:off x="6537960" y="2359152"/>
            <a:ext cx="457200" cy="457200"/>
          </a:xfrm>
          <a:prstGeom prst="ellipse">
            <a:avLst/>
          </a:prstGeom>
          <a:solidFill>
            <a:srgbClr val="1B2430"/>
          </a:solidFill>
          <a:ln/>
        </p:spPr>
      </p:sp>
      <p:pic>
        <p:nvPicPr>
          <p:cNvPr id="25" name="Image 4" descr="preencoded.png">    </p:cNvPr>
          <p:cNvPicPr>
            <a:picLocks noChangeAspect="1"/>
          </p:cNvPicPr>
          <p:nvPr/>
        </p:nvPicPr>
        <p:blipFill>
          <a:blip r:embed="rId5"/>
          <a:stretch>
            <a:fillRect/>
          </a:stretch>
        </p:blipFill>
        <p:spPr>
          <a:xfrm>
            <a:off x="6647688" y="2468880"/>
            <a:ext cx="237744" cy="237744"/>
          </a:xfrm>
          <a:prstGeom prst="rect">
            <a:avLst/>
          </a:prstGeom>
        </p:spPr>
      </p:pic>
      <p:sp>
        <p:nvSpPr>
          <p:cNvPr id="26" name="Text 19"/>
          <p:cNvSpPr txBox="1"/>
          <p:nvPr/>
        </p:nvSpPr>
        <p:spPr>
          <a:xfrm>
            <a:off x="7132320" y="2313432"/>
            <a:ext cx="1600200" cy="5486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rmg_admin</a:t>
            </a:r>
            <a:endParaRPr lang="en-US" sz="1350" dirty="0"/>
          </a:p>
        </p:txBody>
      </p:sp>
      <p:sp>
        <p:nvSpPr>
          <p:cNvPr id="27" name="Text 20"/>
          <p:cNvSpPr txBox="1"/>
          <p:nvPr/>
        </p:nvSpPr>
        <p:spPr>
          <a:xfrm>
            <a:off x="8732520" y="2313432"/>
            <a:ext cx="2727655" cy="54864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Every client and branch, including suspended clients.</a:t>
            </a:r>
            <a:endParaRPr lang="en-US" sz="1200" dirty="0"/>
          </a:p>
        </p:txBody>
      </p:sp>
      <p:sp>
        <p:nvSpPr>
          <p:cNvPr id="28" name="Shape 21"/>
          <p:cNvSpPr/>
          <p:nvPr/>
        </p:nvSpPr>
        <p:spPr>
          <a:xfrm>
            <a:off x="6537960" y="3054096"/>
            <a:ext cx="457200" cy="457200"/>
          </a:xfrm>
          <a:prstGeom prst="ellipse">
            <a:avLst/>
          </a:prstGeom>
          <a:solidFill>
            <a:srgbClr val="3D5A80"/>
          </a:solidFill>
          <a:ln/>
        </p:spPr>
      </p:sp>
      <p:pic>
        <p:nvPicPr>
          <p:cNvPr id="29" name="Image 5" descr="preencoded.png">    </p:cNvPr>
          <p:cNvPicPr>
            <a:picLocks noChangeAspect="1"/>
          </p:cNvPicPr>
          <p:nvPr/>
        </p:nvPicPr>
        <p:blipFill>
          <a:blip r:embed="rId6"/>
          <a:stretch>
            <a:fillRect/>
          </a:stretch>
        </p:blipFill>
        <p:spPr>
          <a:xfrm>
            <a:off x="6647688" y="3163824"/>
            <a:ext cx="237744" cy="237744"/>
          </a:xfrm>
          <a:prstGeom prst="rect">
            <a:avLst/>
          </a:prstGeom>
        </p:spPr>
      </p:pic>
      <p:sp>
        <p:nvSpPr>
          <p:cNvPr id="30" name="Text 22"/>
          <p:cNvSpPr txBox="1"/>
          <p:nvPr/>
        </p:nvSpPr>
        <p:spPr>
          <a:xfrm>
            <a:off x="7132320" y="3008376"/>
            <a:ext cx="1600200" cy="5486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hq</a:t>
            </a:r>
            <a:endParaRPr lang="en-US" sz="1350" dirty="0"/>
          </a:p>
        </p:txBody>
      </p:sp>
      <p:sp>
        <p:nvSpPr>
          <p:cNvPr id="31" name="Text 23"/>
          <p:cNvSpPr txBox="1"/>
          <p:nvPr/>
        </p:nvSpPr>
        <p:spPr>
          <a:xfrm>
            <a:off x="8732520" y="3008376"/>
            <a:ext cx="2727655" cy="54864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Every branch of their own client, and holdout results.</a:t>
            </a:r>
            <a:endParaRPr lang="en-US" sz="1200" dirty="0"/>
          </a:p>
        </p:txBody>
      </p:sp>
      <p:sp>
        <p:nvSpPr>
          <p:cNvPr id="32" name="Shape 24"/>
          <p:cNvSpPr/>
          <p:nvPr/>
        </p:nvSpPr>
        <p:spPr>
          <a:xfrm>
            <a:off x="6537960" y="3749040"/>
            <a:ext cx="457200" cy="457200"/>
          </a:xfrm>
          <a:prstGeom prst="ellipse">
            <a:avLst/>
          </a:prstGeom>
          <a:solidFill>
            <a:srgbClr val="1F7A5C"/>
          </a:solidFill>
          <a:ln/>
        </p:spPr>
      </p:sp>
      <p:pic>
        <p:nvPicPr>
          <p:cNvPr id="33" name="Image 6" descr="preencoded.png">    </p:cNvPr>
          <p:cNvPicPr>
            <a:picLocks noChangeAspect="1"/>
          </p:cNvPicPr>
          <p:nvPr/>
        </p:nvPicPr>
        <p:blipFill>
          <a:blip r:embed="rId7"/>
          <a:stretch>
            <a:fillRect/>
          </a:stretch>
        </p:blipFill>
        <p:spPr>
          <a:xfrm>
            <a:off x="6647688" y="3858768"/>
            <a:ext cx="237744" cy="237744"/>
          </a:xfrm>
          <a:prstGeom prst="rect">
            <a:avLst/>
          </a:prstGeom>
        </p:spPr>
      </p:pic>
      <p:sp>
        <p:nvSpPr>
          <p:cNvPr id="34" name="Text 25"/>
          <p:cNvSpPr txBox="1"/>
          <p:nvPr/>
        </p:nvSpPr>
        <p:spPr>
          <a:xfrm>
            <a:off x="7132320" y="3703320"/>
            <a:ext cx="1600200" cy="5486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branch_manager</a:t>
            </a:r>
            <a:endParaRPr lang="en-US" sz="1350" dirty="0"/>
          </a:p>
        </p:txBody>
      </p:sp>
      <p:sp>
        <p:nvSpPr>
          <p:cNvPr id="35" name="Text 26"/>
          <p:cNvSpPr txBox="1"/>
          <p:nvPr/>
        </p:nvSpPr>
        <p:spPr>
          <a:xfrm>
            <a:off x="8732520" y="3703320"/>
            <a:ext cx="2727655" cy="54864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Only their own shops; never sees who is in the holdout.</a:t>
            </a:r>
            <a:endParaRPr lang="en-US" sz="1200" dirty="0"/>
          </a:p>
        </p:txBody>
      </p:sp>
      <p:sp>
        <p:nvSpPr>
          <p:cNvPr id="36" name="Text 27"/>
          <p:cNvSpPr txBox="1"/>
          <p:nvPr/>
        </p:nvSpPr>
        <p:spPr>
          <a:xfrm>
            <a:off x="6537960" y="4443984"/>
            <a:ext cx="4876495" cy="502920"/>
          </a:xfrm>
          <a:prstGeom prst="rect">
            <a:avLst/>
          </a:prstGeom>
          <a:noFill/>
          <a:ln/>
        </p:spPr>
        <p:txBody>
          <a:bodyPr wrap="square" lIns="0" tIns="0" rIns="0" bIns="0" rtlCol="0" anchor="t"/>
          <a:lstStyle/>
          <a:p>
            <a:pPr indent="0" marL="0">
              <a:buNone/>
            </a:pPr>
            <a:r>
              <a:rPr lang="en-US" sz="1200" i="1" dirty="0">
                <a:solidFill>
                  <a:srgbClr val="1B2430"/>
                </a:solidFill>
                <a:latin typeface="Calibri" pitchFamily="34" charset="0"/>
                <a:ea typeface="Calibri" pitchFamily="34" charset="-122"/>
                <a:cs typeface="Calibri" pitchFamily="34" charset="-120"/>
              </a:rPr>
              <a:t>Kill switch: when a client's status isn't active, hq and branch managers see nothing.</a:t>
            </a:r>
            <a:endParaRPr lang="en-US" sz="1200" dirty="0"/>
          </a:p>
        </p:txBody>
      </p:sp>
      <p:sp>
        <p:nvSpPr>
          <p:cNvPr id="37" name="Shape 28"/>
          <p:cNvSpPr/>
          <p:nvPr/>
        </p:nvSpPr>
        <p:spPr>
          <a:xfrm>
            <a:off x="548640" y="5349240"/>
            <a:ext cx="3515258" cy="914400"/>
          </a:xfrm>
          <a:prstGeom prst="roundRect">
            <a:avLst>
              <a:gd name="adj" fmla="val 8000"/>
            </a:avLst>
          </a:prstGeom>
          <a:solidFill>
            <a:srgbClr val="FFFFFF"/>
          </a:solidFill>
          <a:ln w="12700">
            <a:solidFill>
              <a:srgbClr val="D5DAE1"/>
            </a:solidFill>
            <a:prstDash val="solid"/>
          </a:ln>
        </p:spPr>
      </p:sp>
      <p:sp>
        <p:nvSpPr>
          <p:cNvPr id="38" name="Shape 29"/>
          <p:cNvSpPr/>
          <p:nvPr/>
        </p:nvSpPr>
        <p:spPr>
          <a:xfrm>
            <a:off x="731520" y="5550408"/>
            <a:ext cx="512064" cy="512064"/>
          </a:xfrm>
          <a:prstGeom prst="ellipse">
            <a:avLst/>
          </a:prstGeom>
          <a:solidFill>
            <a:srgbClr val="44505E"/>
          </a:solidFill>
          <a:ln/>
        </p:spPr>
      </p:sp>
      <p:pic>
        <p:nvPicPr>
          <p:cNvPr id="39" name="Image 7" descr="preencoded.png">    </p:cNvPr>
          <p:cNvPicPr>
            <a:picLocks noChangeAspect="1"/>
          </p:cNvPicPr>
          <p:nvPr/>
        </p:nvPicPr>
        <p:blipFill>
          <a:blip r:embed="rId8"/>
          <a:stretch>
            <a:fillRect/>
          </a:stretch>
        </p:blipFill>
        <p:spPr>
          <a:xfrm>
            <a:off x="854415" y="5673303"/>
            <a:ext cx="266273" cy="266273"/>
          </a:xfrm>
          <a:prstGeom prst="rect">
            <a:avLst/>
          </a:prstGeom>
        </p:spPr>
      </p:pic>
      <p:sp>
        <p:nvSpPr>
          <p:cNvPr id="40" name="Text 30"/>
          <p:cNvSpPr txBox="1"/>
          <p:nvPr/>
        </p:nvSpPr>
        <p:spPr>
          <a:xfrm>
            <a:off x="1417320" y="5440680"/>
            <a:ext cx="2509418" cy="7315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bronze, silver and ops can't be reached from the web API</a:t>
            </a:r>
            <a:endParaRPr lang="en-US" sz="1250" dirty="0"/>
          </a:p>
        </p:txBody>
      </p:sp>
      <p:sp>
        <p:nvSpPr>
          <p:cNvPr id="41" name="Shape 31"/>
          <p:cNvSpPr/>
          <p:nvPr/>
        </p:nvSpPr>
        <p:spPr>
          <a:xfrm>
            <a:off x="4338218" y="5349240"/>
            <a:ext cx="3515258" cy="914400"/>
          </a:xfrm>
          <a:prstGeom prst="roundRect">
            <a:avLst>
              <a:gd name="adj" fmla="val 8000"/>
            </a:avLst>
          </a:prstGeom>
          <a:solidFill>
            <a:srgbClr val="FFFFFF"/>
          </a:solidFill>
          <a:ln w="12700">
            <a:solidFill>
              <a:srgbClr val="D5DAE1"/>
            </a:solidFill>
            <a:prstDash val="solid"/>
          </a:ln>
        </p:spPr>
      </p:sp>
      <p:sp>
        <p:nvSpPr>
          <p:cNvPr id="42" name="Shape 32"/>
          <p:cNvSpPr/>
          <p:nvPr/>
        </p:nvSpPr>
        <p:spPr>
          <a:xfrm>
            <a:off x="4521098" y="5550408"/>
            <a:ext cx="512064" cy="512064"/>
          </a:xfrm>
          <a:prstGeom prst="ellipse">
            <a:avLst/>
          </a:prstGeom>
          <a:solidFill>
            <a:srgbClr val="44505E"/>
          </a:solidFill>
          <a:ln/>
        </p:spPr>
      </p:sp>
      <p:pic>
        <p:nvPicPr>
          <p:cNvPr id="43" name="Image 8" descr="preencoded.png">    </p:cNvPr>
          <p:cNvPicPr>
            <a:picLocks noChangeAspect="1"/>
          </p:cNvPicPr>
          <p:nvPr/>
        </p:nvPicPr>
        <p:blipFill>
          <a:blip r:embed="rId9"/>
          <a:stretch>
            <a:fillRect/>
          </a:stretch>
        </p:blipFill>
        <p:spPr>
          <a:xfrm>
            <a:off x="4643994" y="5673303"/>
            <a:ext cx="266273" cy="266273"/>
          </a:xfrm>
          <a:prstGeom prst="rect">
            <a:avLst/>
          </a:prstGeom>
        </p:spPr>
      </p:pic>
      <p:sp>
        <p:nvSpPr>
          <p:cNvPr id="44" name="Text 33"/>
          <p:cNvSpPr txBox="1"/>
          <p:nvPr/>
        </p:nvSpPr>
        <p:spPr>
          <a:xfrm>
            <a:off x="5206898" y="5440680"/>
            <a:ext cx="2509418" cy="7315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Row-level security is switched on for every table</a:t>
            </a:r>
            <a:endParaRPr lang="en-US" sz="1250" dirty="0"/>
          </a:p>
        </p:txBody>
      </p:sp>
      <p:sp>
        <p:nvSpPr>
          <p:cNvPr id="45" name="Shape 34"/>
          <p:cNvSpPr/>
          <p:nvPr/>
        </p:nvSpPr>
        <p:spPr>
          <a:xfrm>
            <a:off x="8127797" y="5349240"/>
            <a:ext cx="3515258" cy="914400"/>
          </a:xfrm>
          <a:prstGeom prst="roundRect">
            <a:avLst>
              <a:gd name="adj" fmla="val 8000"/>
            </a:avLst>
          </a:prstGeom>
          <a:solidFill>
            <a:srgbClr val="FFFFFF"/>
          </a:solidFill>
          <a:ln w="12700">
            <a:solidFill>
              <a:srgbClr val="D5DAE1"/>
            </a:solidFill>
            <a:prstDash val="solid"/>
          </a:ln>
        </p:spPr>
      </p:sp>
      <p:sp>
        <p:nvSpPr>
          <p:cNvPr id="46" name="Shape 35"/>
          <p:cNvSpPr/>
          <p:nvPr/>
        </p:nvSpPr>
        <p:spPr>
          <a:xfrm>
            <a:off x="8310677" y="5550408"/>
            <a:ext cx="512064" cy="512064"/>
          </a:xfrm>
          <a:prstGeom prst="ellipse">
            <a:avLst/>
          </a:prstGeom>
          <a:solidFill>
            <a:srgbClr val="44505E"/>
          </a:solidFill>
          <a:ln/>
        </p:spPr>
      </p:sp>
      <p:pic>
        <p:nvPicPr>
          <p:cNvPr id="47" name="Image 9" descr="preencoded.png">    </p:cNvPr>
          <p:cNvPicPr>
            <a:picLocks noChangeAspect="1"/>
          </p:cNvPicPr>
          <p:nvPr/>
        </p:nvPicPr>
        <p:blipFill>
          <a:blip r:embed="rId10"/>
          <a:stretch>
            <a:fillRect/>
          </a:stretch>
        </p:blipFill>
        <p:spPr>
          <a:xfrm>
            <a:off x="8433572" y="5673303"/>
            <a:ext cx="266273" cy="266273"/>
          </a:xfrm>
          <a:prstGeom prst="rect">
            <a:avLst/>
          </a:prstGeom>
        </p:spPr>
      </p:pic>
      <p:sp>
        <p:nvSpPr>
          <p:cNvPr id="48" name="Text 36"/>
          <p:cNvSpPr txBox="1"/>
          <p:nvPr/>
        </p:nvSpPr>
        <p:spPr>
          <a:xfrm>
            <a:off x="8996477" y="5440680"/>
            <a:ext cx="2509418" cy="7315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Secrets live only in the password manager, .env files and GitHub secrets</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it stands  ·  30 September 2026</a:t>
            </a:r>
            <a:endParaRPr lang="en-US" sz="3200" dirty="0"/>
          </a:p>
        </p:txBody>
      </p:sp>
      <p:sp>
        <p:nvSpPr>
          <p:cNvPr id="3" name="Text 1"/>
          <p:cNvSpPr txBox="1"/>
          <p:nvPr/>
        </p:nvSpPr>
        <p:spPr>
          <a:xfrm>
            <a:off x="548640" y="1051560"/>
            <a:ext cx="11094415" cy="384048"/>
          </a:xfrm>
          <a:prstGeom prst="rect">
            <a:avLst/>
          </a:prstGeom>
          <a:noFill/>
          <a:ln/>
        </p:spPr>
        <p:txBody>
          <a:bodyPr wrap="square" lIns="0" tIns="0" rIns="0" bIns="0" rtlCol="0" anchor="ctr"/>
          <a:lstStyle/>
          <a:p>
            <a:pPr indent="0" marL="0">
              <a:buNone/>
            </a:pPr>
            <a:r>
              <a:rPr lang="en-US" sz="1600" dirty="0">
                <a:solidFill>
                  <a:srgbClr val="AEB6C2"/>
                </a:solidFill>
                <a:latin typeface="Calibri" pitchFamily="34" charset="0"/>
                <a:ea typeface="Calibri" pitchFamily="34" charset="-122"/>
                <a:cs typeface="Calibri" pitchFamily="34" charset="-120"/>
              </a:rPr>
              <a:t>The foundation is built and tested on dev; the pipeline logic waits for ProDairy's first CSV</a:t>
            </a:r>
            <a:endParaRPr lang="en-US" sz="1600" dirty="0"/>
          </a:p>
        </p:txBody>
      </p:sp>
      <p:sp>
        <p:nvSpPr>
          <p:cNvPr id="4" name="Shape 2"/>
          <p:cNvSpPr/>
          <p:nvPr/>
        </p:nvSpPr>
        <p:spPr>
          <a:xfrm>
            <a:off x="548640" y="1737360"/>
            <a:ext cx="3515258" cy="4069080"/>
          </a:xfrm>
          <a:prstGeom prst="roundRect">
            <a:avLst>
              <a:gd name="adj" fmla="val 2081"/>
            </a:avLst>
          </a:prstGeom>
          <a:solidFill>
            <a:srgbClr val="263244"/>
          </a:solidFill>
          <a:ln/>
        </p:spPr>
      </p:sp>
      <p:sp>
        <p:nvSpPr>
          <p:cNvPr id="5" name="Shape 3"/>
          <p:cNvSpPr/>
          <p:nvPr/>
        </p:nvSpPr>
        <p:spPr>
          <a:xfrm>
            <a:off x="777240" y="1965960"/>
            <a:ext cx="2103120" cy="411480"/>
          </a:xfrm>
          <a:prstGeom prst="roundRect">
            <a:avLst>
              <a:gd name="adj" fmla="val 22222"/>
            </a:avLst>
          </a:prstGeom>
          <a:solidFill>
            <a:srgbClr val="1F7A5C"/>
          </a:solidFill>
          <a:ln/>
        </p:spPr>
      </p:sp>
      <p:sp>
        <p:nvSpPr>
          <p:cNvPr id="6" name="Text 4"/>
          <p:cNvSpPr txBox="1"/>
          <p:nvPr/>
        </p:nvSpPr>
        <p:spPr>
          <a:xfrm>
            <a:off x="777240" y="1965960"/>
            <a:ext cx="2103120"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Built and tested</a:t>
            </a:r>
            <a:endParaRPr lang="en-US" sz="1350" dirty="0"/>
          </a:p>
        </p:txBody>
      </p:sp>
      <p:sp>
        <p:nvSpPr>
          <p:cNvPr id="7" name="Text 5"/>
          <p:cNvSpPr txBox="1"/>
          <p:nvPr/>
        </p:nvSpPr>
        <p:spPr>
          <a:xfrm>
            <a:off x="777240" y="2606040"/>
            <a:ext cx="3058058" cy="3063240"/>
          </a:xfrm>
          <a:prstGeom prst="rect">
            <a:avLst/>
          </a:prstGeom>
          <a:noFill/>
          <a:ln/>
        </p:spPr>
        <p:txBody>
          <a:bodyPr wrap="square" lIns="0" tIns="0" rIns="0" bIns="0" rtlCol="0" anchor="t"/>
          <a:lstStyle/>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Schema 00–14 on dev, with RLS, roles and seed data</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Landing into bronze, original kept in Storage</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Worker, queue and scheduler; first run succeeded 29 Sep</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17 SQL test groups × 2 scenarios, 13 Python tests</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Laptop set up for notebooks (29 Sep)</a:t>
            </a:r>
            <a:endParaRPr lang="en-US" sz="1450" dirty="0"/>
          </a:p>
        </p:txBody>
      </p:sp>
      <p:sp>
        <p:nvSpPr>
          <p:cNvPr id="8" name="Shape 6"/>
          <p:cNvSpPr/>
          <p:nvPr/>
        </p:nvSpPr>
        <p:spPr>
          <a:xfrm>
            <a:off x="4338218" y="1737360"/>
            <a:ext cx="3515258" cy="4069080"/>
          </a:xfrm>
          <a:prstGeom prst="roundRect">
            <a:avLst>
              <a:gd name="adj" fmla="val 2081"/>
            </a:avLst>
          </a:prstGeom>
          <a:solidFill>
            <a:srgbClr val="263244"/>
          </a:solidFill>
          <a:ln/>
        </p:spPr>
      </p:sp>
      <p:sp>
        <p:nvSpPr>
          <p:cNvPr id="9" name="Shape 7"/>
          <p:cNvSpPr/>
          <p:nvPr/>
        </p:nvSpPr>
        <p:spPr>
          <a:xfrm>
            <a:off x="4566818" y="1965960"/>
            <a:ext cx="2103120" cy="411480"/>
          </a:xfrm>
          <a:prstGeom prst="roundRect">
            <a:avLst>
              <a:gd name="adj" fmla="val 22222"/>
            </a:avLst>
          </a:prstGeom>
          <a:solidFill>
            <a:srgbClr val="B8860B"/>
          </a:solidFill>
          <a:ln/>
        </p:spPr>
      </p:sp>
      <p:sp>
        <p:nvSpPr>
          <p:cNvPr id="10" name="Text 8"/>
          <p:cNvSpPr txBox="1"/>
          <p:nvPr/>
        </p:nvSpPr>
        <p:spPr>
          <a:xfrm>
            <a:off x="4566818" y="1965960"/>
            <a:ext cx="2103120"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Still to build</a:t>
            </a:r>
            <a:endParaRPr lang="en-US" sz="1350" dirty="0"/>
          </a:p>
        </p:txBody>
      </p:sp>
      <p:sp>
        <p:nvSpPr>
          <p:cNvPr id="11" name="Text 9"/>
          <p:cNvSpPr txBox="1"/>
          <p:nvPr/>
        </p:nvSpPr>
        <p:spPr>
          <a:xfrm>
            <a:off x="4566818" y="2606040"/>
            <a:ext cx="3058058" cy="3063240"/>
          </a:xfrm>
          <a:prstGeom prst="rect">
            <a:avLst/>
          </a:prstGeom>
          <a:noFill/>
          <a:ln/>
        </p:spPr>
        <p:txBody>
          <a:bodyPr wrap="square" lIns="0" tIns="0" rIns="0" bIns="0" rtlCol="0" anchor="t"/>
          <a:lstStyle/>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Cleansing, publishing and scoring, in notebooks first</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Web app: login and screens</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Landing for files uploaded through the web app</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WhatsApp webhook and bot flows</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Prod: Pro plan, then migrations 00–14 and seed</a:t>
            </a:r>
            <a:endParaRPr lang="en-US" sz="1450" dirty="0"/>
          </a:p>
        </p:txBody>
      </p:sp>
      <p:sp>
        <p:nvSpPr>
          <p:cNvPr id="12" name="Shape 10"/>
          <p:cNvSpPr/>
          <p:nvPr/>
        </p:nvSpPr>
        <p:spPr>
          <a:xfrm>
            <a:off x="8127797" y="1737360"/>
            <a:ext cx="3515258" cy="4069080"/>
          </a:xfrm>
          <a:prstGeom prst="roundRect">
            <a:avLst>
              <a:gd name="adj" fmla="val 2081"/>
            </a:avLst>
          </a:prstGeom>
          <a:solidFill>
            <a:srgbClr val="263244"/>
          </a:solidFill>
          <a:ln/>
        </p:spPr>
      </p:sp>
      <p:sp>
        <p:nvSpPr>
          <p:cNvPr id="13" name="Shape 11"/>
          <p:cNvSpPr/>
          <p:nvPr/>
        </p:nvSpPr>
        <p:spPr>
          <a:xfrm>
            <a:off x="8356397" y="1965960"/>
            <a:ext cx="2103120" cy="411480"/>
          </a:xfrm>
          <a:prstGeom prst="roundRect">
            <a:avLst>
              <a:gd name="adj" fmla="val 22222"/>
            </a:avLst>
          </a:prstGeom>
          <a:solidFill>
            <a:srgbClr val="3D5A80"/>
          </a:solidFill>
          <a:ln/>
        </p:spPr>
      </p:sp>
      <p:sp>
        <p:nvSpPr>
          <p:cNvPr id="14" name="Text 12"/>
          <p:cNvSpPr txBox="1"/>
          <p:nvPr/>
        </p:nvSpPr>
        <p:spPr>
          <a:xfrm>
            <a:off x="8356397" y="1965960"/>
            <a:ext cx="2103120"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Waiting on others</a:t>
            </a:r>
            <a:endParaRPr lang="en-US" sz="1350" dirty="0"/>
          </a:p>
        </p:txBody>
      </p:sp>
      <p:sp>
        <p:nvSpPr>
          <p:cNvPr id="15" name="Text 13"/>
          <p:cNvSpPr txBox="1"/>
          <p:nvPr/>
        </p:nvSpPr>
        <p:spPr>
          <a:xfrm>
            <a:off x="8356397" y="2606040"/>
            <a:ext cx="3058058" cy="3063240"/>
          </a:xfrm>
          <a:prstGeom prst="rect">
            <a:avLst/>
          </a:prstGeom>
          <a:noFill/>
          <a:ln/>
        </p:spPr>
        <p:txBody>
          <a:bodyPr wrap="square" lIns="0" tIns="0" rIns="0" bIns="0" rtlCol="0" anchor="t"/>
          <a:lstStyle/>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Receipts CSV, or a 100-row sample</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The other 15 branch codes</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Units per case; monthly control totals</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Meta Business verification</a:t>
            </a:r>
            <a:endParaRPr lang="en-US" sz="1450" dirty="0"/>
          </a:p>
          <a:p>
            <a:pPr marL="165100" indent="-165100">
              <a:spcAft>
                <a:spcPts val="1100"/>
              </a:spcAft>
              <a:buSzPct val="100000"/>
              <a:buChar char="•"/>
            </a:pPr>
            <a:r>
              <a:rPr lang="en-US" sz="1450" dirty="0">
                <a:solidFill>
                  <a:srgbClr val="FFFFFF"/>
                </a:solidFill>
                <a:latin typeface="Calibri" pitchFamily="34" charset="0"/>
                <a:ea typeface="Calibri" pitchFamily="34" charset="-122"/>
                <a:cs typeface="Calibri" pitchFamily="34" charset="-120"/>
              </a:rPr>
              <a:t>Port 5432 opened on the cPanel server</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Retinah Media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ProDash+ backend: technical architecture</dc:title>
  <dc:subject>PptxGenJS Presentation</dc:subject>
  <dc:creator>RMG Digital</dc:creator>
  <cp:lastModifiedBy>RMG Digital</cp:lastModifiedBy>
  <cp:revision>1</cp:revision>
  <dcterms:created xsi:type="dcterms:W3CDTF">2026-09-30T07:45:27Z</dcterms:created>
  <dcterms:modified xsi:type="dcterms:W3CDTF">2026-09-30T07:45:27Z</dcterms:modified>
</cp:coreProperties>
</file>